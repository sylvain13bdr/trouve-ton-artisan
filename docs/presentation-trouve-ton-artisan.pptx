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 Trouve ton artisan », l'application web que j'ai réalisée et déployée pendant ma formation. C'est une plateforme de mise en relation entre les particuliers et les artisans de la région Auvergne-Rhône-Alpes. La présentation suit le plan du référentiel : contexte, réalisations front-end puis back-end, sécurité, jeu d'essai, veille, et un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déroulé reprend le plan imposé par le référentiel du titre : le contexte du projet, mes réalisations côté front-end, la base de données avec ses deux volets SQL et NoSQL, les composants serveur, la sécurité, le jeu d'essai et la veille, avant de conclure.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couvre les six compétences obligatoires du référentiel : trois côté front-end, trois côté back-end. Les deux compétences restantes, l'environnement de travail et le déploiement, sont aussi en place — j'y reviendrai volontiers pendant l'entretien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contexte : l'artisanat pèse très lourd dans la région — 221 000 entreprises. La région veut une plateforme simple pour mettre en relation particuliers et artisans. Les besoins couvrent la recherche, la consultation de fiches, le contact direct, la mise en avant mensuelle, et les avis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contraintes structurantes : accessibilité WCAG et RGAA, approche mobile-first sur trois formats, sécurité au niveau attendu d'une collectivité, respect de la charte, API fermée aux tiers, et versioning public sur GitHub. Les livrables : dossier, maquettes, dépôt, site en ligne et ce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travaillé seul sur toute la chaîne, avec un interlocuteur métier fictif à Lyon. Environnement classique : VS Code, Node, Git avec branches et pull requests, bases locales sous XAMPP et MongoDB, et un déploiement réparti entre Vercel, Render et AlwaysData. Les objectifs qualité ont été fixés dès le départ et tiennent lieu de fil rouge.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maquettes ont été réalisées sous Figma, en partant du mobile. Voici l'accueil en version ordinateur et en version mobile : même contenu, mise en page adaptée. Les douze maquettes complètes (accueil, liste, fiche, 404, en trois formats) sont dans le dossier et sur le lien Figma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charte fournie par la région est appliquée strictement : palette de six couleurs et police Graphik. Graphik est une police sous licence — dans Figma j'ai utilisé Inter comme substitut, et sur le site la version d'essai de Graphik est auto-hébergée au format woff2, avec un repli système.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parcours utilisateur est volontairement court : deux clics suffisent pour passer de l'accueil à la fiche d'un artisan, trois pour lui envoyer un message. La page 404 raccroche toujours le visiteur au parcours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code front : à gauche, un exemple d'interface statique — le bandeau d'accueil, en balisage sémantique avec Bootstrap. À droite, la partie dynamique : un hook qui recharge la liste des artisans à chaque changement de filtre, avec gestion de l'attente et des erreurs.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exigences transversales. L'accessibilité : le site se parcourt entièrement au clavier, avec libellés, ARIA et contrastes vérifiés — WCAG et RGAA, pertinent pour une collectivité. Le référencement : chaque page porte son titre et sa description. Et une démarche d'éco-conception : chargement différé, polices locales, requêtes sobres.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conceptuel compte cinq entités, avec des cardinalités simples. Le point de modélisation important : la ville est externalisée dans une entité dédiée plutôt que stockée en texte sur chaque artisan — c'est ce qui garantit la troisième forme normale.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logique et le modèle physique : tables InnoDB en utf8mb4, clés étrangères avec des règles adaptées — on ne supprime pas une spécialité utilisée, mais les messages suivent la suppression d'un artisan. Des contraintes CHECK verrouillent la note et l'e-mail. Les scripts complets sont dans le dépôt.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volet NoSQL du référentiel : les avis clients sont stockés dans MongoDB via Mongoose. Le choix est motivé par la nature des avis — schéma souple, lecture par artisan, volume croissant. Les deux bases cohabitent, et si MongoDB tombe, le reste du site continue de fonctionner.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L'API suit une architecture en couches : les routes reçoivent, les contrôleurs orchestrent, les services portent le métier, les modèles accèdent aux données. L'exemple à droite illustre la création d'un avis : vérification de l'artisan côté SQL, puis écriture de l'avis côté 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sécurité est traitée en couches : l'accès à l'API est fermé par une clé comparée à temps constant, le CORS n'accepte que le front, Helmet durcit les en-têtes, le rate limiting bloque le spam, toutes les entrées sont validées, les requêtes sont paramétrées, le compte BDD est limité au strict nécessaire, et tout passe en HTTPS.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jeu d'essai porte sur le dépôt puis la relecture d'un avis : un cas nominal et deux cas limites. Pour chacun, les données obtenues sont conformes à l'attendu — et je précise comment chaque cas a été vérifié : par les tests automatisés pour les deux premiers, manuellement pour l'arrêt de 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Onze tests automatisés couvrent l'API, sur des bases jetables en mémoire — aucun risque pour les données réelles. La veille s’est appuyée sur l’OWASP, Snyk, les advisories GitHub et la CNIL ; elle a directement conduit à plusieurs corrections concrètes dans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ce que je retiens côté satisfactions — une application complète en production, testée, accessible et sécurisée, menée avec un vrai workflow Git. Côté difficultés : l'articulation des deux bases, la police sous licence, les limites des hébergeurs gratuits et l'encodage des scripts sous Windows — toutes surmontées. Merci, je suis prêt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510528"/>
            <a:ext cx="5486400" cy="274320"/>
          </a:xfrm>
          <a:prstGeom prst="rect">
            <a:avLst/>
          </a:prstGeom>
          <a:noFill/>
          <a:ln/>
        </p:spPr>
        <p:txBody>
          <a:bodyPr wrap="square" rtlCol="0" anchor="ctr"/>
          <a:lstStyle/>
          <a:p>
            <a:pPr indent="0" marL="0">
              <a:buNone/>
            </a:pPr>
            <a:r>
              <a:rPr lang="en-US" sz="900" dirty="0">
                <a:solidFill>
                  <a:srgbClr val="8A94A6"/>
                </a:solidFill>
                <a:latin typeface="Calibri" pitchFamily="34" charset="0"/>
                <a:ea typeface="Calibri" pitchFamily="34" charset="-122"/>
                <a:cs typeface="Calibri" pitchFamily="34" charset="-120"/>
              </a:rPr>
              <a:t>Trouve ton artisan — Titre professionnel DWWM</a:t>
            </a:r>
            <a:endParaRPr lang="en-US" sz="9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0497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235440" y="-1280160"/>
            <a:ext cx="4206240" cy="4206240"/>
          </a:xfrm>
          <a:prstGeom prst="ellipse">
            <a:avLst/>
          </a:prstGeom>
          <a:solidFill>
            <a:srgbClr val="0074C7">
              <a:alpha val="40000"/>
            </a:srgbClr>
          </a:solidFill>
          <a:ln w="12700">
            <a:solidFill>
              <a:srgbClr val="0074C7"/>
            </a:solidFill>
            <a:prstDash val="solid"/>
          </a:ln>
        </p:spPr>
      </p:sp>
      <p:sp>
        <p:nvSpPr>
          <p:cNvPr id="3" name="Shape 1"/>
          <p:cNvSpPr/>
          <p:nvPr/>
        </p:nvSpPr>
        <p:spPr>
          <a:xfrm>
            <a:off x="10881360" y="4846320"/>
            <a:ext cx="2377440" cy="2377440"/>
          </a:xfrm>
          <a:prstGeom prst="ellipse">
            <a:avLst/>
          </a:prstGeom>
          <a:solidFill>
            <a:srgbClr val="F1F8FC">
              <a:alpha val="22000"/>
            </a:srgbClr>
          </a:solidFill>
          <a:ln w="12700">
            <a:solidFill>
              <a:srgbClr val="F1F8FC"/>
            </a:solidFill>
            <a:prstDash val="solid"/>
          </a:ln>
        </p:spPr>
      </p:sp>
      <p:sp>
        <p:nvSpPr>
          <p:cNvPr id="4" name="Text 2"/>
          <p:cNvSpPr/>
          <p:nvPr/>
        </p:nvSpPr>
        <p:spPr>
          <a:xfrm>
            <a:off x="822960" y="1874520"/>
            <a:ext cx="105156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Trouve ton artisan</a:t>
            </a:r>
            <a:endParaRPr lang="en-US" sz="4800" dirty="0"/>
          </a:p>
        </p:txBody>
      </p:sp>
      <p:sp>
        <p:nvSpPr>
          <p:cNvPr id="5" name="Text 3"/>
          <p:cNvSpPr/>
          <p:nvPr/>
        </p:nvSpPr>
        <p:spPr>
          <a:xfrm>
            <a:off x="822960" y="2926080"/>
            <a:ext cx="9692640" cy="54864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Plateforme web de mise en relation avec les artisans d'Auvergne-Rhône-Alpes</a:t>
            </a:r>
            <a:endParaRPr lang="en-US" sz="1900" dirty="0"/>
          </a:p>
        </p:txBody>
      </p:sp>
      <p:sp>
        <p:nvSpPr>
          <p:cNvPr id="6" name="Text 4"/>
          <p:cNvSpPr/>
          <p:nvPr/>
        </p:nvSpPr>
        <p:spPr>
          <a:xfrm>
            <a:off x="822960" y="5212080"/>
            <a:ext cx="9601200" cy="822960"/>
          </a:xfrm>
          <a:prstGeom prst="rect">
            <a:avLst/>
          </a:prstGeom>
          <a:noFill/>
          <a:ln/>
        </p:spPr>
        <p:txBody>
          <a:bodyPr wrap="square" lIns="0" tIns="0" rIns="0" bIns="0" rtlCol="0" anchor="ctr"/>
          <a:lstStyle/>
          <a:p>
            <a:pPr indent="0" marL="0">
              <a:spcAft>
                <a:spcPts val="600"/>
              </a:spcAft>
              <a:buNone/>
            </a:pPr>
            <a:r>
              <a:rPr lang="en-US" sz="1400" dirty="0">
                <a:solidFill>
                  <a:srgbClr val="FFFFFF"/>
                </a:solidFill>
                <a:latin typeface="Calibri" pitchFamily="34" charset="0"/>
                <a:ea typeface="Calibri" pitchFamily="34" charset="-122"/>
                <a:cs typeface="Calibri" pitchFamily="34" charset="-120"/>
              </a:rPr>
              <a:t>Titre professionnel Développeur Web et Web Mobile — présentation du projet</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Sylvain Labeye · Centre Européen de Formation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Plan de la présentation</a:t>
            </a:r>
            <a:endParaRPr lang="en-US" sz="3000" dirty="0"/>
          </a:p>
        </p:txBody>
      </p:sp>
      <p:sp>
        <p:nvSpPr>
          <p:cNvPr id="3" name="Shape 1"/>
          <p:cNvSpPr/>
          <p:nvPr/>
        </p:nvSpPr>
        <p:spPr>
          <a:xfrm>
            <a:off x="822960" y="1600200"/>
            <a:ext cx="384048" cy="384048"/>
          </a:xfrm>
          <a:prstGeom prst="ellipse">
            <a:avLst/>
          </a:prstGeom>
          <a:solidFill>
            <a:srgbClr val="0074C7"/>
          </a:solidFill>
          <a:ln w="12700">
            <a:solidFill>
              <a:srgbClr val="0074C7"/>
            </a:solidFill>
            <a:prstDash val="solid"/>
          </a:ln>
        </p:spPr>
      </p:sp>
      <p:sp>
        <p:nvSpPr>
          <p:cNvPr id="4" name="Text 2"/>
          <p:cNvSpPr/>
          <p:nvPr/>
        </p:nvSpPr>
        <p:spPr>
          <a:xfrm>
            <a:off x="822960" y="15819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p:nvPr/>
        </p:nvSpPr>
        <p:spPr>
          <a:xfrm>
            <a:off x="1389888" y="1527048"/>
            <a:ext cx="4937760" cy="566928"/>
          </a:xfrm>
          <a:prstGeom prst="rect">
            <a:avLst/>
          </a:prstGeom>
          <a:noFill/>
          <a:ln/>
        </p:spPr>
        <p:txBody>
          <a:bodyPr wrap="square" lIns="0" tIns="0" rIns="0" bIns="0" rtlCol="0" anchor="ctr"/>
          <a:lstStyle/>
          <a:p>
            <a:pPr indent="0" marL="0">
              <a:buNone/>
            </a:pPr>
            <a:r>
              <a:rPr lang="en-US" sz="1550" dirty="0">
                <a:solidFill>
                  <a:srgbClr val="384050"/>
                </a:solidFill>
                <a:latin typeface="Calibri" pitchFamily="34" charset="0"/>
                <a:ea typeface="Calibri" pitchFamily="34" charset="-122"/>
                <a:cs typeface="Calibri" pitchFamily="34" charset="-120"/>
              </a:rPr>
              <a:t>Contexte, besoins et contraintes</a:t>
            </a:r>
            <a:endParaRPr lang="en-US" sz="1550" dirty="0"/>
          </a:p>
        </p:txBody>
      </p:sp>
      <p:sp>
        <p:nvSpPr>
          <p:cNvPr id="6" name="Shape 4"/>
          <p:cNvSpPr/>
          <p:nvPr/>
        </p:nvSpPr>
        <p:spPr>
          <a:xfrm>
            <a:off x="822960" y="2651760"/>
            <a:ext cx="384048" cy="384048"/>
          </a:xfrm>
          <a:prstGeom prst="ellipse">
            <a:avLst/>
          </a:prstGeom>
          <a:solidFill>
            <a:srgbClr val="0074C7"/>
          </a:solidFill>
          <a:ln w="12700">
            <a:solidFill>
              <a:srgbClr val="0074C7"/>
            </a:solidFill>
            <a:prstDash val="solid"/>
          </a:ln>
        </p:spPr>
      </p:sp>
      <p:sp>
        <p:nvSpPr>
          <p:cNvPr id="7" name="Text 5"/>
          <p:cNvSpPr/>
          <p:nvPr/>
        </p:nvSpPr>
        <p:spPr>
          <a:xfrm>
            <a:off x="822960" y="26334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8" name="Text 6"/>
          <p:cNvSpPr/>
          <p:nvPr/>
        </p:nvSpPr>
        <p:spPr>
          <a:xfrm>
            <a:off x="1389888" y="2578608"/>
            <a:ext cx="4937760" cy="566928"/>
          </a:xfrm>
          <a:prstGeom prst="rect">
            <a:avLst/>
          </a:prstGeom>
          <a:noFill/>
          <a:ln/>
        </p:spPr>
        <p:txBody>
          <a:bodyPr wrap="square" lIns="0" tIns="0" rIns="0" bIns="0" rtlCol="0" anchor="ctr"/>
          <a:lstStyle/>
          <a:p>
            <a:pPr indent="0" marL="0">
              <a:buNone/>
            </a:pPr>
            <a:r>
              <a:rPr lang="en-US" sz="1550" dirty="0">
                <a:solidFill>
                  <a:srgbClr val="384050"/>
                </a:solidFill>
                <a:latin typeface="Calibri" pitchFamily="34" charset="0"/>
                <a:ea typeface="Calibri" pitchFamily="34" charset="-122"/>
                <a:cs typeface="Calibri" pitchFamily="34" charset="-120"/>
              </a:rPr>
              <a:t>Réalisations front-end (maquettes, interfaces, accessibilité)</a:t>
            </a:r>
            <a:endParaRPr lang="en-US" sz="1550" dirty="0"/>
          </a:p>
        </p:txBody>
      </p:sp>
      <p:sp>
        <p:nvSpPr>
          <p:cNvPr id="9" name="Shape 7"/>
          <p:cNvSpPr/>
          <p:nvPr/>
        </p:nvSpPr>
        <p:spPr>
          <a:xfrm>
            <a:off x="822960" y="3703320"/>
            <a:ext cx="384048" cy="384048"/>
          </a:xfrm>
          <a:prstGeom prst="ellipse">
            <a:avLst/>
          </a:prstGeom>
          <a:solidFill>
            <a:srgbClr val="0074C7"/>
          </a:solidFill>
          <a:ln w="12700">
            <a:solidFill>
              <a:srgbClr val="0074C7"/>
            </a:solidFill>
            <a:prstDash val="solid"/>
          </a:ln>
        </p:spPr>
      </p:sp>
      <p:sp>
        <p:nvSpPr>
          <p:cNvPr id="10" name="Text 8"/>
          <p:cNvSpPr/>
          <p:nvPr/>
        </p:nvSpPr>
        <p:spPr>
          <a:xfrm>
            <a:off x="822960" y="36850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1" name="Text 9"/>
          <p:cNvSpPr/>
          <p:nvPr/>
        </p:nvSpPr>
        <p:spPr>
          <a:xfrm>
            <a:off x="1389888" y="3630168"/>
            <a:ext cx="4937760" cy="566928"/>
          </a:xfrm>
          <a:prstGeom prst="rect">
            <a:avLst/>
          </a:prstGeom>
          <a:noFill/>
          <a:ln/>
        </p:spPr>
        <p:txBody>
          <a:bodyPr wrap="square" lIns="0" tIns="0" rIns="0" bIns="0" rtlCol="0" anchor="ctr"/>
          <a:lstStyle/>
          <a:p>
            <a:pPr indent="0" marL="0">
              <a:buNone/>
            </a:pPr>
            <a:r>
              <a:rPr lang="en-US" sz="1550" dirty="0">
                <a:solidFill>
                  <a:srgbClr val="384050"/>
                </a:solidFill>
                <a:latin typeface="Calibri" pitchFamily="34" charset="0"/>
                <a:ea typeface="Calibri" pitchFamily="34" charset="-122"/>
                <a:cs typeface="Calibri" pitchFamily="34" charset="-120"/>
              </a:rPr>
              <a:t>Base de données relationnelle et NoSQL</a:t>
            </a:r>
            <a:endParaRPr lang="en-US" sz="1550" dirty="0"/>
          </a:p>
        </p:txBody>
      </p:sp>
      <p:sp>
        <p:nvSpPr>
          <p:cNvPr id="12" name="Shape 10"/>
          <p:cNvSpPr/>
          <p:nvPr/>
        </p:nvSpPr>
        <p:spPr>
          <a:xfrm>
            <a:off x="822960" y="4754880"/>
            <a:ext cx="384048" cy="384048"/>
          </a:xfrm>
          <a:prstGeom prst="ellipse">
            <a:avLst/>
          </a:prstGeom>
          <a:solidFill>
            <a:srgbClr val="0074C7"/>
          </a:solidFill>
          <a:ln w="12700">
            <a:solidFill>
              <a:srgbClr val="0074C7"/>
            </a:solidFill>
            <a:prstDash val="solid"/>
          </a:ln>
        </p:spPr>
      </p:sp>
      <p:sp>
        <p:nvSpPr>
          <p:cNvPr id="13" name="Text 11"/>
          <p:cNvSpPr/>
          <p:nvPr/>
        </p:nvSpPr>
        <p:spPr>
          <a:xfrm>
            <a:off x="822960" y="47365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4" name="Text 12"/>
          <p:cNvSpPr/>
          <p:nvPr/>
        </p:nvSpPr>
        <p:spPr>
          <a:xfrm>
            <a:off x="1389888" y="4681728"/>
            <a:ext cx="4937760" cy="566928"/>
          </a:xfrm>
          <a:prstGeom prst="rect">
            <a:avLst/>
          </a:prstGeom>
          <a:noFill/>
          <a:ln/>
        </p:spPr>
        <p:txBody>
          <a:bodyPr wrap="square" lIns="0" tIns="0" rIns="0" bIns="0" rtlCol="0" anchor="ctr"/>
          <a:lstStyle/>
          <a:p>
            <a:pPr indent="0" marL="0">
              <a:buNone/>
            </a:pPr>
            <a:r>
              <a:rPr lang="en-US" sz="1550" dirty="0">
                <a:solidFill>
                  <a:srgbClr val="384050"/>
                </a:solidFill>
                <a:latin typeface="Calibri" pitchFamily="34" charset="0"/>
                <a:ea typeface="Calibri" pitchFamily="34" charset="-122"/>
                <a:cs typeface="Calibri" pitchFamily="34" charset="-120"/>
              </a:rPr>
              <a:t>Composants serveur (accès aux données, métier)</a:t>
            </a:r>
            <a:endParaRPr lang="en-US" sz="1550" dirty="0"/>
          </a:p>
        </p:txBody>
      </p:sp>
      <p:sp>
        <p:nvSpPr>
          <p:cNvPr id="15" name="Shape 13"/>
          <p:cNvSpPr/>
          <p:nvPr/>
        </p:nvSpPr>
        <p:spPr>
          <a:xfrm>
            <a:off x="6583680" y="1600200"/>
            <a:ext cx="384048" cy="384048"/>
          </a:xfrm>
          <a:prstGeom prst="ellipse">
            <a:avLst/>
          </a:prstGeom>
          <a:solidFill>
            <a:srgbClr val="0074C7"/>
          </a:solidFill>
          <a:ln w="12700">
            <a:solidFill>
              <a:srgbClr val="0074C7"/>
            </a:solidFill>
            <a:prstDash val="solid"/>
          </a:ln>
        </p:spPr>
      </p:sp>
      <p:sp>
        <p:nvSpPr>
          <p:cNvPr id="16" name="Text 14"/>
          <p:cNvSpPr/>
          <p:nvPr/>
        </p:nvSpPr>
        <p:spPr>
          <a:xfrm>
            <a:off x="6583680" y="15819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7" name="Text 15"/>
          <p:cNvSpPr/>
          <p:nvPr/>
        </p:nvSpPr>
        <p:spPr>
          <a:xfrm>
            <a:off x="7150608" y="1527048"/>
            <a:ext cx="4937760" cy="566928"/>
          </a:xfrm>
          <a:prstGeom prst="rect">
            <a:avLst/>
          </a:prstGeom>
          <a:noFill/>
          <a:ln/>
        </p:spPr>
        <p:txBody>
          <a:bodyPr wrap="square" lIns="0" tIns="0" rIns="0" bIns="0" rtlCol="0" anchor="ctr"/>
          <a:lstStyle/>
          <a:p>
            <a:pPr indent="0" marL="0">
              <a:buNone/>
            </a:pPr>
            <a:r>
              <a:rPr lang="en-US" sz="1550" dirty="0">
                <a:solidFill>
                  <a:srgbClr val="384050"/>
                </a:solidFill>
                <a:latin typeface="Calibri" pitchFamily="34" charset="0"/>
                <a:ea typeface="Calibri" pitchFamily="34" charset="-122"/>
                <a:cs typeface="Calibri" pitchFamily="34" charset="-120"/>
              </a:rPr>
              <a:t>Sécurité</a:t>
            </a:r>
            <a:endParaRPr lang="en-US" sz="1550" dirty="0"/>
          </a:p>
        </p:txBody>
      </p:sp>
      <p:sp>
        <p:nvSpPr>
          <p:cNvPr id="18" name="Shape 16"/>
          <p:cNvSpPr/>
          <p:nvPr/>
        </p:nvSpPr>
        <p:spPr>
          <a:xfrm>
            <a:off x="6583680" y="2651760"/>
            <a:ext cx="384048" cy="384048"/>
          </a:xfrm>
          <a:prstGeom prst="ellipse">
            <a:avLst/>
          </a:prstGeom>
          <a:solidFill>
            <a:srgbClr val="0074C7"/>
          </a:solidFill>
          <a:ln w="12700">
            <a:solidFill>
              <a:srgbClr val="0074C7"/>
            </a:solidFill>
            <a:prstDash val="solid"/>
          </a:ln>
        </p:spPr>
      </p:sp>
      <p:sp>
        <p:nvSpPr>
          <p:cNvPr id="19" name="Text 17"/>
          <p:cNvSpPr/>
          <p:nvPr/>
        </p:nvSpPr>
        <p:spPr>
          <a:xfrm>
            <a:off x="6583680" y="26334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0" name="Text 18"/>
          <p:cNvSpPr/>
          <p:nvPr/>
        </p:nvSpPr>
        <p:spPr>
          <a:xfrm>
            <a:off x="7150608" y="2578608"/>
            <a:ext cx="4937760" cy="566928"/>
          </a:xfrm>
          <a:prstGeom prst="rect">
            <a:avLst/>
          </a:prstGeom>
          <a:noFill/>
          <a:ln/>
        </p:spPr>
        <p:txBody>
          <a:bodyPr wrap="square" lIns="0" tIns="0" rIns="0" bIns="0" rtlCol="0" anchor="ctr"/>
          <a:lstStyle/>
          <a:p>
            <a:pPr indent="0" marL="0">
              <a:buNone/>
            </a:pPr>
            <a:r>
              <a:rPr lang="en-US" sz="1550" dirty="0">
                <a:solidFill>
                  <a:srgbClr val="384050"/>
                </a:solidFill>
                <a:latin typeface="Calibri" pitchFamily="34" charset="0"/>
                <a:ea typeface="Calibri" pitchFamily="34" charset="-122"/>
                <a:cs typeface="Calibri" pitchFamily="34" charset="-120"/>
              </a:rPr>
              <a:t>Jeu d'essai et tests automatisés</a:t>
            </a:r>
            <a:endParaRPr lang="en-US" sz="1550" dirty="0"/>
          </a:p>
        </p:txBody>
      </p:sp>
      <p:sp>
        <p:nvSpPr>
          <p:cNvPr id="21" name="Shape 19"/>
          <p:cNvSpPr/>
          <p:nvPr/>
        </p:nvSpPr>
        <p:spPr>
          <a:xfrm>
            <a:off x="6583680" y="3703320"/>
            <a:ext cx="384048" cy="384048"/>
          </a:xfrm>
          <a:prstGeom prst="ellipse">
            <a:avLst/>
          </a:prstGeom>
          <a:solidFill>
            <a:srgbClr val="0074C7"/>
          </a:solidFill>
          <a:ln w="12700">
            <a:solidFill>
              <a:srgbClr val="0074C7"/>
            </a:solidFill>
            <a:prstDash val="solid"/>
          </a:ln>
        </p:spPr>
      </p:sp>
      <p:sp>
        <p:nvSpPr>
          <p:cNvPr id="22" name="Text 20"/>
          <p:cNvSpPr/>
          <p:nvPr/>
        </p:nvSpPr>
        <p:spPr>
          <a:xfrm>
            <a:off x="6583680" y="36850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3" name="Text 21"/>
          <p:cNvSpPr/>
          <p:nvPr/>
        </p:nvSpPr>
        <p:spPr>
          <a:xfrm>
            <a:off x="7150608" y="3630168"/>
            <a:ext cx="4937760" cy="566928"/>
          </a:xfrm>
          <a:prstGeom prst="rect">
            <a:avLst/>
          </a:prstGeom>
          <a:noFill/>
          <a:ln/>
        </p:spPr>
        <p:txBody>
          <a:bodyPr wrap="square" lIns="0" tIns="0" rIns="0" bIns="0" rtlCol="0" anchor="ctr"/>
          <a:lstStyle/>
          <a:p>
            <a:pPr indent="0" marL="0">
              <a:buNone/>
            </a:pPr>
            <a:r>
              <a:rPr lang="en-US" sz="1550" dirty="0">
                <a:solidFill>
                  <a:srgbClr val="384050"/>
                </a:solidFill>
                <a:latin typeface="Calibri" pitchFamily="34" charset="0"/>
                <a:ea typeface="Calibri" pitchFamily="34" charset="-122"/>
                <a:cs typeface="Calibri" pitchFamily="34" charset="-120"/>
              </a:rPr>
              <a:t>Veille et bilan du projet</a:t>
            </a:r>
            <a:endParaRPr lang="en-US" sz="15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Compétences du référentiel couvertes</a:t>
            </a:r>
            <a:endParaRPr lang="en-US" sz="3000" dirty="0"/>
          </a:p>
        </p:txBody>
      </p:sp>
      <p:sp>
        <p:nvSpPr>
          <p:cNvPr id="3" name="Shape 1"/>
          <p:cNvSpPr/>
          <p:nvPr/>
        </p:nvSpPr>
        <p:spPr>
          <a:xfrm>
            <a:off x="640080" y="1371600"/>
            <a:ext cx="5394960" cy="3566160"/>
          </a:xfrm>
          <a:prstGeom prst="roundRect">
            <a:avLst>
              <a:gd name="adj" fmla="val 2051"/>
            </a:avLst>
          </a:prstGeom>
          <a:solidFill>
            <a:srgbClr val="F1F8FC"/>
          </a:solidFill>
          <a:ln w="9525">
            <a:solidFill>
              <a:srgbClr val="D0D7DE"/>
            </a:solidFill>
            <a:prstDash val="solid"/>
          </a:ln>
        </p:spPr>
      </p:sp>
      <p:sp>
        <p:nvSpPr>
          <p:cNvPr id="4" name="Text 2"/>
          <p:cNvSpPr/>
          <p:nvPr/>
        </p:nvSpPr>
        <p:spPr>
          <a:xfrm>
            <a:off x="1005840" y="1691640"/>
            <a:ext cx="475488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Activité-type 1 — Front-end sécurisé</a:t>
            </a:r>
            <a:endParaRPr lang="en-US" sz="1700" dirty="0"/>
          </a:p>
        </p:txBody>
      </p:sp>
      <p:sp>
        <p:nvSpPr>
          <p:cNvPr id="5" name="Text 3"/>
          <p:cNvSpPr/>
          <p:nvPr/>
        </p:nvSpPr>
        <p:spPr>
          <a:xfrm>
            <a:off x="1005840" y="2331720"/>
            <a:ext cx="365760" cy="457200"/>
          </a:xfrm>
          <a:prstGeom prst="rect">
            <a:avLst/>
          </a:prstGeom>
          <a:noFill/>
          <a:ln/>
        </p:spPr>
        <p:txBody>
          <a:bodyPr wrap="square" lIns="0" tIns="0" rIns="0" bIns="0" rtlCol="0" anchor="ctr"/>
          <a:lstStyle/>
          <a:p>
            <a:pPr indent="0" marL="0">
              <a:buNone/>
            </a:pPr>
            <a:r>
              <a:rPr lang="en-US" sz="1900" b="1" dirty="0">
                <a:solidFill>
                  <a:srgbClr val="82B864"/>
                </a:solidFill>
                <a:latin typeface="Calibri" pitchFamily="34" charset="0"/>
                <a:ea typeface="Calibri" pitchFamily="34" charset="-122"/>
                <a:cs typeface="Calibri" pitchFamily="34" charset="-120"/>
              </a:rPr>
              <a:t>✓</a:t>
            </a:r>
            <a:endParaRPr lang="en-US" sz="1900" dirty="0"/>
          </a:p>
        </p:txBody>
      </p:sp>
      <p:sp>
        <p:nvSpPr>
          <p:cNvPr id="6" name="Text 4"/>
          <p:cNvSpPr/>
          <p:nvPr/>
        </p:nvSpPr>
        <p:spPr>
          <a:xfrm>
            <a:off x="1417320" y="2313432"/>
            <a:ext cx="4343400" cy="685800"/>
          </a:xfrm>
          <a:prstGeom prst="rect">
            <a:avLst/>
          </a:prstGeom>
          <a:noFill/>
          <a:ln/>
        </p:spPr>
        <p:txBody>
          <a:bodyPr wrap="square" lIns="0" tIns="0" rIns="0" bIns="0" rtlCol="0" anchor="t"/>
          <a:lstStyle/>
          <a:p>
            <a:pPr indent="0" marL="0">
              <a:buNone/>
            </a:pPr>
            <a:r>
              <a:rPr lang="en-US" sz="1450" dirty="0">
                <a:solidFill>
                  <a:srgbClr val="384050"/>
                </a:solidFill>
                <a:latin typeface="Calibri" pitchFamily="34" charset="0"/>
                <a:ea typeface="Calibri" pitchFamily="34" charset="-122"/>
                <a:cs typeface="Calibri" pitchFamily="34" charset="-120"/>
              </a:rPr>
              <a:t>Maquetter des interfaces web et web mobile</a:t>
            </a:r>
            <a:endParaRPr lang="en-US" sz="1450" dirty="0"/>
          </a:p>
        </p:txBody>
      </p:sp>
      <p:sp>
        <p:nvSpPr>
          <p:cNvPr id="7" name="Text 5"/>
          <p:cNvSpPr/>
          <p:nvPr/>
        </p:nvSpPr>
        <p:spPr>
          <a:xfrm>
            <a:off x="1005840" y="3108960"/>
            <a:ext cx="365760" cy="457200"/>
          </a:xfrm>
          <a:prstGeom prst="rect">
            <a:avLst/>
          </a:prstGeom>
          <a:noFill/>
          <a:ln/>
        </p:spPr>
        <p:txBody>
          <a:bodyPr wrap="square" lIns="0" tIns="0" rIns="0" bIns="0" rtlCol="0" anchor="ctr"/>
          <a:lstStyle/>
          <a:p>
            <a:pPr indent="0" marL="0">
              <a:buNone/>
            </a:pPr>
            <a:r>
              <a:rPr lang="en-US" sz="1900" b="1" dirty="0">
                <a:solidFill>
                  <a:srgbClr val="82B864"/>
                </a:solidFill>
                <a:latin typeface="Calibri" pitchFamily="34" charset="0"/>
                <a:ea typeface="Calibri" pitchFamily="34" charset="-122"/>
                <a:cs typeface="Calibri" pitchFamily="34" charset="-120"/>
              </a:rPr>
              <a:t>✓</a:t>
            </a:r>
            <a:endParaRPr lang="en-US" sz="1900" dirty="0"/>
          </a:p>
        </p:txBody>
      </p:sp>
      <p:sp>
        <p:nvSpPr>
          <p:cNvPr id="8" name="Text 6"/>
          <p:cNvSpPr/>
          <p:nvPr/>
        </p:nvSpPr>
        <p:spPr>
          <a:xfrm>
            <a:off x="1417320" y="3090672"/>
            <a:ext cx="4343400" cy="685800"/>
          </a:xfrm>
          <a:prstGeom prst="rect">
            <a:avLst/>
          </a:prstGeom>
          <a:noFill/>
          <a:ln/>
        </p:spPr>
        <p:txBody>
          <a:bodyPr wrap="square" lIns="0" tIns="0" rIns="0" bIns="0" rtlCol="0" anchor="t"/>
          <a:lstStyle/>
          <a:p>
            <a:pPr indent="0" marL="0">
              <a:buNone/>
            </a:pPr>
            <a:r>
              <a:rPr lang="en-US" sz="1450" dirty="0">
                <a:solidFill>
                  <a:srgbClr val="384050"/>
                </a:solidFill>
                <a:latin typeface="Calibri" pitchFamily="34" charset="0"/>
                <a:ea typeface="Calibri" pitchFamily="34" charset="-122"/>
                <a:cs typeface="Calibri" pitchFamily="34" charset="-120"/>
              </a:rPr>
              <a:t>Réaliser des interfaces utilisateur statiques</a:t>
            </a:r>
            <a:endParaRPr lang="en-US" sz="1450" dirty="0"/>
          </a:p>
        </p:txBody>
      </p:sp>
      <p:sp>
        <p:nvSpPr>
          <p:cNvPr id="9" name="Text 7"/>
          <p:cNvSpPr/>
          <p:nvPr/>
        </p:nvSpPr>
        <p:spPr>
          <a:xfrm>
            <a:off x="1005840" y="3886200"/>
            <a:ext cx="365760" cy="457200"/>
          </a:xfrm>
          <a:prstGeom prst="rect">
            <a:avLst/>
          </a:prstGeom>
          <a:noFill/>
          <a:ln/>
        </p:spPr>
        <p:txBody>
          <a:bodyPr wrap="square" lIns="0" tIns="0" rIns="0" bIns="0" rtlCol="0" anchor="ctr"/>
          <a:lstStyle/>
          <a:p>
            <a:pPr indent="0" marL="0">
              <a:buNone/>
            </a:pPr>
            <a:r>
              <a:rPr lang="en-US" sz="1900" b="1" dirty="0">
                <a:solidFill>
                  <a:srgbClr val="82B864"/>
                </a:solidFill>
                <a:latin typeface="Calibri" pitchFamily="34" charset="0"/>
                <a:ea typeface="Calibri" pitchFamily="34" charset="-122"/>
                <a:cs typeface="Calibri" pitchFamily="34" charset="-120"/>
              </a:rPr>
              <a:t>✓</a:t>
            </a:r>
            <a:endParaRPr lang="en-US" sz="1900" dirty="0"/>
          </a:p>
        </p:txBody>
      </p:sp>
      <p:sp>
        <p:nvSpPr>
          <p:cNvPr id="10" name="Text 8"/>
          <p:cNvSpPr/>
          <p:nvPr/>
        </p:nvSpPr>
        <p:spPr>
          <a:xfrm>
            <a:off x="1417320" y="3867912"/>
            <a:ext cx="4343400" cy="685800"/>
          </a:xfrm>
          <a:prstGeom prst="rect">
            <a:avLst/>
          </a:prstGeom>
          <a:noFill/>
          <a:ln/>
        </p:spPr>
        <p:txBody>
          <a:bodyPr wrap="square" lIns="0" tIns="0" rIns="0" bIns="0" rtlCol="0" anchor="t"/>
          <a:lstStyle/>
          <a:p>
            <a:pPr indent="0" marL="0">
              <a:buNone/>
            </a:pPr>
            <a:r>
              <a:rPr lang="en-US" sz="1450" dirty="0">
                <a:solidFill>
                  <a:srgbClr val="384050"/>
                </a:solidFill>
                <a:latin typeface="Calibri" pitchFamily="34" charset="0"/>
                <a:ea typeface="Calibri" pitchFamily="34" charset="-122"/>
                <a:cs typeface="Calibri" pitchFamily="34" charset="-120"/>
              </a:rPr>
              <a:t>Développer la partie dynamique des interfaces</a:t>
            </a:r>
            <a:endParaRPr lang="en-US" sz="1450" dirty="0"/>
          </a:p>
        </p:txBody>
      </p:sp>
      <p:sp>
        <p:nvSpPr>
          <p:cNvPr id="11" name="Shape 9"/>
          <p:cNvSpPr/>
          <p:nvPr/>
        </p:nvSpPr>
        <p:spPr>
          <a:xfrm>
            <a:off x="6309360" y="1371600"/>
            <a:ext cx="5394960" cy="3566160"/>
          </a:xfrm>
          <a:prstGeom prst="roundRect">
            <a:avLst>
              <a:gd name="adj" fmla="val 2051"/>
            </a:avLst>
          </a:prstGeom>
          <a:solidFill>
            <a:srgbClr val="F1F8FC"/>
          </a:solidFill>
          <a:ln w="9525">
            <a:solidFill>
              <a:srgbClr val="D0D7DE"/>
            </a:solidFill>
            <a:prstDash val="solid"/>
          </a:ln>
        </p:spPr>
      </p:sp>
      <p:sp>
        <p:nvSpPr>
          <p:cNvPr id="12" name="Text 10"/>
          <p:cNvSpPr/>
          <p:nvPr/>
        </p:nvSpPr>
        <p:spPr>
          <a:xfrm>
            <a:off x="6675120" y="1691640"/>
            <a:ext cx="475488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Activité-type 2 — Back-end sécurisé</a:t>
            </a:r>
            <a:endParaRPr lang="en-US" sz="1700" dirty="0"/>
          </a:p>
        </p:txBody>
      </p:sp>
      <p:sp>
        <p:nvSpPr>
          <p:cNvPr id="13" name="Text 11"/>
          <p:cNvSpPr/>
          <p:nvPr/>
        </p:nvSpPr>
        <p:spPr>
          <a:xfrm>
            <a:off x="6675120" y="2331720"/>
            <a:ext cx="365760" cy="457200"/>
          </a:xfrm>
          <a:prstGeom prst="rect">
            <a:avLst/>
          </a:prstGeom>
          <a:noFill/>
          <a:ln/>
        </p:spPr>
        <p:txBody>
          <a:bodyPr wrap="square" lIns="0" tIns="0" rIns="0" bIns="0" rtlCol="0" anchor="ctr"/>
          <a:lstStyle/>
          <a:p>
            <a:pPr indent="0" marL="0">
              <a:buNone/>
            </a:pPr>
            <a:r>
              <a:rPr lang="en-US" sz="1900" b="1" dirty="0">
                <a:solidFill>
                  <a:srgbClr val="82B864"/>
                </a:solidFill>
                <a:latin typeface="Calibri" pitchFamily="34" charset="0"/>
                <a:ea typeface="Calibri" pitchFamily="34" charset="-122"/>
                <a:cs typeface="Calibri" pitchFamily="34" charset="-120"/>
              </a:rPr>
              <a:t>✓</a:t>
            </a:r>
            <a:endParaRPr lang="en-US" sz="1900" dirty="0"/>
          </a:p>
        </p:txBody>
      </p:sp>
      <p:sp>
        <p:nvSpPr>
          <p:cNvPr id="14" name="Text 12"/>
          <p:cNvSpPr/>
          <p:nvPr/>
        </p:nvSpPr>
        <p:spPr>
          <a:xfrm>
            <a:off x="7086600" y="2313432"/>
            <a:ext cx="4343400" cy="685800"/>
          </a:xfrm>
          <a:prstGeom prst="rect">
            <a:avLst/>
          </a:prstGeom>
          <a:noFill/>
          <a:ln/>
        </p:spPr>
        <p:txBody>
          <a:bodyPr wrap="square" lIns="0" tIns="0" rIns="0" bIns="0" rtlCol="0" anchor="t"/>
          <a:lstStyle/>
          <a:p>
            <a:pPr indent="0" marL="0">
              <a:buNone/>
            </a:pPr>
            <a:r>
              <a:rPr lang="en-US" sz="1450" dirty="0">
                <a:solidFill>
                  <a:srgbClr val="384050"/>
                </a:solidFill>
                <a:latin typeface="Calibri" pitchFamily="34" charset="0"/>
                <a:ea typeface="Calibri" pitchFamily="34" charset="-122"/>
                <a:cs typeface="Calibri" pitchFamily="34" charset="-120"/>
              </a:rPr>
              <a:t>Mettre en place une base de données relationnelle</a:t>
            </a:r>
            <a:endParaRPr lang="en-US" sz="1450" dirty="0"/>
          </a:p>
        </p:txBody>
      </p:sp>
      <p:sp>
        <p:nvSpPr>
          <p:cNvPr id="15" name="Text 13"/>
          <p:cNvSpPr/>
          <p:nvPr/>
        </p:nvSpPr>
        <p:spPr>
          <a:xfrm>
            <a:off x="6675120" y="3108960"/>
            <a:ext cx="365760" cy="457200"/>
          </a:xfrm>
          <a:prstGeom prst="rect">
            <a:avLst/>
          </a:prstGeom>
          <a:noFill/>
          <a:ln/>
        </p:spPr>
        <p:txBody>
          <a:bodyPr wrap="square" lIns="0" tIns="0" rIns="0" bIns="0" rtlCol="0" anchor="ctr"/>
          <a:lstStyle/>
          <a:p>
            <a:pPr indent="0" marL="0">
              <a:buNone/>
            </a:pPr>
            <a:r>
              <a:rPr lang="en-US" sz="1900" b="1" dirty="0">
                <a:solidFill>
                  <a:srgbClr val="82B864"/>
                </a:solidFill>
                <a:latin typeface="Calibri" pitchFamily="34" charset="0"/>
                <a:ea typeface="Calibri" pitchFamily="34" charset="-122"/>
                <a:cs typeface="Calibri" pitchFamily="34" charset="-120"/>
              </a:rPr>
              <a:t>✓</a:t>
            </a:r>
            <a:endParaRPr lang="en-US" sz="1900" dirty="0"/>
          </a:p>
        </p:txBody>
      </p:sp>
      <p:sp>
        <p:nvSpPr>
          <p:cNvPr id="16" name="Text 14"/>
          <p:cNvSpPr/>
          <p:nvPr/>
        </p:nvSpPr>
        <p:spPr>
          <a:xfrm>
            <a:off x="7086600" y="3090672"/>
            <a:ext cx="4343400" cy="685800"/>
          </a:xfrm>
          <a:prstGeom prst="rect">
            <a:avLst/>
          </a:prstGeom>
          <a:noFill/>
          <a:ln/>
        </p:spPr>
        <p:txBody>
          <a:bodyPr wrap="square" lIns="0" tIns="0" rIns="0" bIns="0" rtlCol="0" anchor="t"/>
          <a:lstStyle/>
          <a:p>
            <a:pPr indent="0" marL="0">
              <a:buNone/>
            </a:pPr>
            <a:r>
              <a:rPr lang="en-US" sz="1450" dirty="0">
                <a:solidFill>
                  <a:srgbClr val="384050"/>
                </a:solidFill>
                <a:latin typeface="Calibri" pitchFamily="34" charset="0"/>
                <a:ea typeface="Calibri" pitchFamily="34" charset="-122"/>
                <a:cs typeface="Calibri" pitchFamily="34" charset="-120"/>
              </a:rPr>
              <a:t>Développer des composants d'accès SQL et NoSQL</a:t>
            </a:r>
            <a:endParaRPr lang="en-US" sz="1450" dirty="0"/>
          </a:p>
        </p:txBody>
      </p:sp>
      <p:sp>
        <p:nvSpPr>
          <p:cNvPr id="17" name="Text 15"/>
          <p:cNvSpPr/>
          <p:nvPr/>
        </p:nvSpPr>
        <p:spPr>
          <a:xfrm>
            <a:off x="6675120" y="3886200"/>
            <a:ext cx="365760" cy="457200"/>
          </a:xfrm>
          <a:prstGeom prst="rect">
            <a:avLst/>
          </a:prstGeom>
          <a:noFill/>
          <a:ln/>
        </p:spPr>
        <p:txBody>
          <a:bodyPr wrap="square" lIns="0" tIns="0" rIns="0" bIns="0" rtlCol="0" anchor="ctr"/>
          <a:lstStyle/>
          <a:p>
            <a:pPr indent="0" marL="0">
              <a:buNone/>
            </a:pPr>
            <a:r>
              <a:rPr lang="en-US" sz="1900" b="1" dirty="0">
                <a:solidFill>
                  <a:srgbClr val="82B864"/>
                </a:solidFill>
                <a:latin typeface="Calibri" pitchFamily="34" charset="0"/>
                <a:ea typeface="Calibri" pitchFamily="34" charset="-122"/>
                <a:cs typeface="Calibri" pitchFamily="34" charset="-120"/>
              </a:rPr>
              <a:t>✓</a:t>
            </a:r>
            <a:endParaRPr lang="en-US" sz="1900" dirty="0"/>
          </a:p>
        </p:txBody>
      </p:sp>
      <p:sp>
        <p:nvSpPr>
          <p:cNvPr id="18" name="Text 16"/>
          <p:cNvSpPr/>
          <p:nvPr/>
        </p:nvSpPr>
        <p:spPr>
          <a:xfrm>
            <a:off x="7086600" y="3867912"/>
            <a:ext cx="4343400" cy="685800"/>
          </a:xfrm>
          <a:prstGeom prst="rect">
            <a:avLst/>
          </a:prstGeom>
          <a:noFill/>
          <a:ln/>
        </p:spPr>
        <p:txBody>
          <a:bodyPr wrap="square" lIns="0" tIns="0" rIns="0" bIns="0" rtlCol="0" anchor="t"/>
          <a:lstStyle/>
          <a:p>
            <a:pPr indent="0" marL="0">
              <a:buNone/>
            </a:pPr>
            <a:r>
              <a:rPr lang="en-US" sz="1450" dirty="0">
                <a:solidFill>
                  <a:srgbClr val="384050"/>
                </a:solidFill>
                <a:latin typeface="Calibri" pitchFamily="34" charset="0"/>
                <a:ea typeface="Calibri" pitchFamily="34" charset="-122"/>
                <a:cs typeface="Calibri" pitchFamily="34" charset="-120"/>
              </a:rPr>
              <a:t>Développer des composants métier côté serveur</a:t>
            </a:r>
            <a:endParaRPr lang="en-US" sz="1450" dirty="0"/>
          </a:p>
        </p:txBody>
      </p:sp>
      <p:sp>
        <p:nvSpPr>
          <p:cNvPr id="19" name="Text 17"/>
          <p:cNvSpPr/>
          <p:nvPr/>
        </p:nvSpPr>
        <p:spPr>
          <a:xfrm>
            <a:off x="640080" y="5257800"/>
            <a:ext cx="10972800" cy="731520"/>
          </a:xfrm>
          <a:prstGeom prst="rect">
            <a:avLst/>
          </a:prstGeom>
          <a:noFill/>
          <a:ln/>
        </p:spPr>
        <p:txBody>
          <a:bodyPr wrap="square" lIns="0" tIns="0" rIns="0" bIns="0" rtlCol="0" anchor="ctr"/>
          <a:lstStyle/>
          <a:p>
            <a:pPr indent="0" marL="0">
              <a:buNone/>
            </a:pPr>
            <a:r>
              <a:rPr lang="en-US" sz="1250" i="1" dirty="0">
                <a:solidFill>
                  <a:srgbClr val="8A94A6"/>
                </a:solidFill>
                <a:latin typeface="Calibri" pitchFamily="34" charset="0"/>
                <a:ea typeface="Calibri" pitchFamily="34" charset="-122"/>
                <a:cs typeface="Calibri" pitchFamily="34" charset="-120"/>
              </a:rPr>
              <a:t>Les deux compétences restantes — installer son environnement de travail et documenter le déploiement — sont également mises en œuvre et pourront être détaillées lors de l'entretien technique.</a:t>
            </a:r>
            <a:endParaRPr lang="en-US" sz="12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Contexte et besoins</a:t>
            </a:r>
            <a:endParaRPr lang="en-US" sz="3000" dirty="0"/>
          </a:p>
        </p:txBody>
      </p:sp>
      <p:sp>
        <p:nvSpPr>
          <p:cNvPr id="3" name="Text 1"/>
          <p:cNvSpPr/>
          <p:nvPr/>
        </p:nvSpPr>
        <p:spPr>
          <a:xfrm>
            <a:off x="640080" y="1554480"/>
            <a:ext cx="4754880" cy="1005840"/>
          </a:xfrm>
          <a:prstGeom prst="rect">
            <a:avLst/>
          </a:prstGeom>
          <a:noFill/>
          <a:ln/>
        </p:spPr>
        <p:txBody>
          <a:bodyPr wrap="square" lIns="0" tIns="0" rIns="0" bIns="0" rtlCol="0" anchor="ctr"/>
          <a:lstStyle/>
          <a:p>
            <a:pPr indent="0" marL="0">
              <a:buNone/>
            </a:pPr>
            <a:r>
              <a:rPr lang="en-US" sz="6000" b="1" dirty="0">
                <a:solidFill>
                  <a:srgbClr val="0074C7"/>
                </a:solidFill>
                <a:latin typeface="Calibri" pitchFamily="34" charset="0"/>
                <a:ea typeface="Calibri" pitchFamily="34" charset="-122"/>
                <a:cs typeface="Calibri" pitchFamily="34" charset="-120"/>
              </a:rPr>
              <a:t>221 000</a:t>
            </a:r>
            <a:endParaRPr lang="en-US" sz="6000" dirty="0"/>
          </a:p>
        </p:txBody>
      </p:sp>
      <p:sp>
        <p:nvSpPr>
          <p:cNvPr id="4" name="Text 2"/>
          <p:cNvSpPr/>
          <p:nvPr/>
        </p:nvSpPr>
        <p:spPr>
          <a:xfrm>
            <a:off x="640080" y="2606040"/>
            <a:ext cx="4846320" cy="822960"/>
          </a:xfrm>
          <a:prstGeom prst="rect">
            <a:avLst/>
          </a:prstGeom>
          <a:noFill/>
          <a:ln/>
        </p:spPr>
        <p:txBody>
          <a:bodyPr wrap="square" lIns="0" tIns="0" rIns="0" bIns="0" rtlCol="0" anchor="ctr"/>
          <a:lstStyle/>
          <a:p>
            <a:pPr indent="0" marL="0">
              <a:buNone/>
            </a:pPr>
            <a:r>
              <a:rPr lang="en-US" sz="1400" dirty="0">
                <a:solidFill>
                  <a:srgbClr val="384050"/>
                </a:solidFill>
                <a:latin typeface="Calibri" pitchFamily="34" charset="0"/>
                <a:ea typeface="Calibri" pitchFamily="34" charset="-122"/>
                <a:cs typeface="Calibri" pitchFamily="34" charset="-120"/>
              </a:rPr>
              <a:t>entreprises artisanales en Auvergne-Rhône-Alpes (2021) — près d'un tiers des entreprises de la région</a:t>
            </a:r>
            <a:endParaRPr lang="en-US" sz="1400" dirty="0"/>
          </a:p>
        </p:txBody>
      </p:sp>
      <p:sp>
        <p:nvSpPr>
          <p:cNvPr id="5" name="Text 3"/>
          <p:cNvSpPr/>
          <p:nvPr/>
        </p:nvSpPr>
        <p:spPr>
          <a:xfrm>
            <a:off x="640080" y="3611880"/>
            <a:ext cx="4846320" cy="1463040"/>
          </a:xfrm>
          <a:prstGeom prst="rect">
            <a:avLst/>
          </a:prstGeom>
          <a:noFill/>
          <a:ln/>
        </p:spPr>
        <p:txBody>
          <a:bodyPr wrap="square" lIns="0" tIns="0" rIns="0" bIns="0" rtlCol="0" anchor="ctr"/>
          <a:lstStyle/>
          <a:p>
            <a:pPr indent="0" marL="0">
              <a:buNone/>
            </a:pPr>
            <a:r>
              <a:rPr lang="en-US" sz="1350" dirty="0">
                <a:solidFill>
                  <a:srgbClr val="384050"/>
                </a:solidFill>
                <a:latin typeface="Calibri" pitchFamily="34" charset="0"/>
                <a:ea typeface="Calibri" pitchFamily="34" charset="-122"/>
                <a:cs typeface="Calibri" pitchFamily="34" charset="-120"/>
              </a:rPr>
              <a:t>Pour valoriser ce tissu artisanal, la région souhaite une plateforme mettant directement en relation les particuliers et les artisans locaux. L'interlocuteur du projet se trouve dans les bureaux de Lyon.</a:t>
            </a:r>
            <a:endParaRPr lang="en-US" sz="1350" dirty="0"/>
          </a:p>
        </p:txBody>
      </p:sp>
      <p:sp>
        <p:nvSpPr>
          <p:cNvPr id="6" name="Shape 4"/>
          <p:cNvSpPr/>
          <p:nvPr/>
        </p:nvSpPr>
        <p:spPr>
          <a:xfrm>
            <a:off x="6126480" y="1417320"/>
            <a:ext cx="5486400" cy="4023360"/>
          </a:xfrm>
          <a:prstGeom prst="roundRect">
            <a:avLst>
              <a:gd name="adj" fmla="val 1818"/>
            </a:avLst>
          </a:prstGeom>
          <a:solidFill>
            <a:srgbClr val="F1F8FC"/>
          </a:solidFill>
          <a:ln w="9525">
            <a:solidFill>
              <a:srgbClr val="D0D7DE"/>
            </a:solidFill>
            <a:prstDash val="solid"/>
          </a:ln>
        </p:spPr>
      </p:sp>
      <p:sp>
        <p:nvSpPr>
          <p:cNvPr id="7" name="Text 5"/>
          <p:cNvSpPr/>
          <p:nvPr/>
        </p:nvSpPr>
        <p:spPr>
          <a:xfrm>
            <a:off x="6492240" y="1737360"/>
            <a:ext cx="484632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Ce que la plateforme doit permettre</a:t>
            </a:r>
            <a:endParaRPr lang="en-US" sz="1700" dirty="0"/>
          </a:p>
        </p:txBody>
      </p:sp>
      <p:sp>
        <p:nvSpPr>
          <p:cNvPr id="8" name="Text 6"/>
          <p:cNvSpPr/>
          <p:nvPr/>
        </p:nvSpPr>
        <p:spPr>
          <a:xfrm>
            <a:off x="6492240" y="2331720"/>
            <a:ext cx="4846320" cy="292608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450" dirty="0">
                <a:solidFill>
                  <a:srgbClr val="384050"/>
                </a:solidFill>
                <a:latin typeface="Calibri" pitchFamily="34" charset="0"/>
                <a:ea typeface="Calibri" pitchFamily="34" charset="-122"/>
                <a:cs typeface="Calibri" pitchFamily="34" charset="-120"/>
              </a:rPr>
              <a:t>Trouver un artisan par catégorie ou par nom</a:t>
            </a:r>
            <a:endParaRPr lang="en-US" sz="1450" dirty="0"/>
          </a:p>
          <a:p>
            <a:pPr marL="152400" indent="-152400">
              <a:lnSpc>
                <a:spcPct val="105000"/>
              </a:lnSpc>
              <a:spcAft>
                <a:spcPts val="1000"/>
              </a:spcAft>
              <a:buSzPct val="100000"/>
              <a:buChar char="•"/>
            </a:pPr>
            <a:r>
              <a:rPr lang="en-US" sz="1450" dirty="0">
                <a:solidFill>
                  <a:srgbClr val="384050"/>
                </a:solidFill>
                <a:latin typeface="Calibri" pitchFamily="34" charset="0"/>
                <a:ea typeface="Calibri" pitchFamily="34" charset="-122"/>
                <a:cs typeface="Calibri" pitchFamily="34" charset="-120"/>
              </a:rPr>
              <a:t>Consulter sa fiche détaillée (note, spécialité, ville, à propos)</a:t>
            </a:r>
            <a:endParaRPr lang="en-US" sz="1450" dirty="0"/>
          </a:p>
          <a:p>
            <a:pPr marL="152400" indent="-152400">
              <a:lnSpc>
                <a:spcPct val="105000"/>
              </a:lnSpc>
              <a:spcAft>
                <a:spcPts val="1000"/>
              </a:spcAft>
              <a:buSzPct val="100000"/>
              <a:buChar char="•"/>
            </a:pPr>
            <a:r>
              <a:rPr lang="en-US" sz="1450" dirty="0">
                <a:solidFill>
                  <a:srgbClr val="384050"/>
                </a:solidFill>
                <a:latin typeface="Calibri" pitchFamily="34" charset="0"/>
                <a:ea typeface="Calibri" pitchFamily="34" charset="-122"/>
                <a:cs typeface="Calibri" pitchFamily="34" charset="-120"/>
              </a:rPr>
              <a:t>Le contacter via un formulaire — réponse sous 48 h</a:t>
            </a:r>
            <a:endParaRPr lang="en-US" sz="1450" dirty="0"/>
          </a:p>
          <a:p>
            <a:pPr marL="152400" indent="-152400">
              <a:lnSpc>
                <a:spcPct val="105000"/>
              </a:lnSpc>
              <a:spcAft>
                <a:spcPts val="1000"/>
              </a:spcAft>
              <a:buSzPct val="100000"/>
              <a:buChar char="•"/>
            </a:pPr>
            <a:r>
              <a:rPr lang="en-US" sz="1450" dirty="0">
                <a:solidFill>
                  <a:srgbClr val="384050"/>
                </a:solidFill>
                <a:latin typeface="Calibri" pitchFamily="34" charset="0"/>
                <a:ea typeface="Calibri" pitchFamily="34" charset="-122"/>
                <a:cs typeface="Calibri" pitchFamily="34" charset="-120"/>
              </a:rPr>
              <a:t>Mettre en avant trois « artisans du mois » sur l'accueil</a:t>
            </a:r>
            <a:endParaRPr lang="en-US" sz="1450" dirty="0"/>
          </a:p>
          <a:p>
            <a:pPr marL="152400" indent="-152400">
              <a:lnSpc>
                <a:spcPct val="105000"/>
              </a:lnSpc>
              <a:spcAft>
                <a:spcPts val="1000"/>
              </a:spcAft>
              <a:buSzPct val="100000"/>
              <a:buChar char="•"/>
            </a:pPr>
            <a:r>
              <a:rPr lang="en-US" sz="1450" dirty="0">
                <a:solidFill>
                  <a:srgbClr val="384050"/>
                </a:solidFill>
                <a:latin typeface="Calibri" pitchFamily="34" charset="0"/>
                <a:ea typeface="Calibri" pitchFamily="34" charset="-122"/>
                <a:cs typeface="Calibri" pitchFamily="34" charset="-120"/>
              </a:rPr>
              <a:t>Déposer et consulter des avis clients</a:t>
            </a:r>
            <a:endParaRPr lang="en-US" sz="14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Contraintes et livrables</a:t>
            </a:r>
            <a:endParaRPr lang="en-US" sz="3000" dirty="0"/>
          </a:p>
        </p:txBody>
      </p:sp>
      <p:sp>
        <p:nvSpPr>
          <p:cNvPr id="3" name="Shape 1"/>
          <p:cNvSpPr/>
          <p:nvPr/>
        </p:nvSpPr>
        <p:spPr>
          <a:xfrm>
            <a:off x="640080" y="1371600"/>
            <a:ext cx="5486400" cy="4572000"/>
          </a:xfrm>
          <a:prstGeom prst="roundRect">
            <a:avLst>
              <a:gd name="adj" fmla="val 1600"/>
            </a:avLst>
          </a:prstGeom>
          <a:solidFill>
            <a:srgbClr val="F1F8FC"/>
          </a:solidFill>
          <a:ln w="9525">
            <a:solidFill>
              <a:srgbClr val="D0D7DE"/>
            </a:solidFill>
            <a:prstDash val="solid"/>
          </a:ln>
        </p:spPr>
      </p:sp>
      <p:sp>
        <p:nvSpPr>
          <p:cNvPr id="4" name="Text 2"/>
          <p:cNvSpPr/>
          <p:nvPr/>
        </p:nvSpPr>
        <p:spPr>
          <a:xfrm>
            <a:off x="1005840" y="1691640"/>
            <a:ext cx="475488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Contraintes du projet</a:t>
            </a:r>
            <a:endParaRPr lang="en-US" sz="1700" dirty="0"/>
          </a:p>
        </p:txBody>
      </p:sp>
      <p:sp>
        <p:nvSpPr>
          <p:cNvPr id="5" name="Text 3"/>
          <p:cNvSpPr/>
          <p:nvPr/>
        </p:nvSpPr>
        <p:spPr>
          <a:xfrm>
            <a:off x="1005840" y="2286000"/>
            <a:ext cx="4754880" cy="338328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400" dirty="0">
                <a:solidFill>
                  <a:srgbClr val="384050"/>
                </a:solidFill>
                <a:latin typeface="Calibri" pitchFamily="34" charset="0"/>
                <a:ea typeface="Calibri" pitchFamily="34" charset="-122"/>
                <a:cs typeface="Calibri" pitchFamily="34" charset="-120"/>
              </a:rPr>
              <a:t>Accessibilité pour tous : WCAG 2.1 / RGAA</a:t>
            </a:r>
            <a:endParaRPr lang="en-US" sz="1400" dirty="0"/>
          </a:p>
          <a:p>
            <a:pPr marL="152400" indent="-152400">
              <a:lnSpc>
                <a:spcPct val="105000"/>
              </a:lnSpc>
              <a:spcAft>
                <a:spcPts val="900"/>
              </a:spcAft>
              <a:buSzPct val="100000"/>
              <a:buChar char="•"/>
            </a:pPr>
            <a:r>
              <a:rPr lang="en-US" sz="1400" dirty="0">
                <a:solidFill>
                  <a:srgbClr val="384050"/>
                </a:solidFill>
                <a:latin typeface="Calibri" pitchFamily="34" charset="0"/>
                <a:ea typeface="Calibri" pitchFamily="34" charset="-122"/>
                <a:cs typeface="Calibri" pitchFamily="34" charset="-120"/>
              </a:rPr>
              <a:t>Mobile-first : mobile, tablette et ordinateur</a:t>
            </a:r>
            <a:endParaRPr lang="en-US" sz="1400" dirty="0"/>
          </a:p>
          <a:p>
            <a:pPr marL="152400" indent="-152400">
              <a:lnSpc>
                <a:spcPct val="105000"/>
              </a:lnSpc>
              <a:spcAft>
                <a:spcPts val="900"/>
              </a:spcAft>
              <a:buSzPct val="100000"/>
              <a:buChar char="•"/>
            </a:pPr>
            <a:r>
              <a:rPr lang="en-US" sz="1400" dirty="0">
                <a:solidFill>
                  <a:srgbClr val="384050"/>
                </a:solidFill>
                <a:latin typeface="Calibri" pitchFamily="34" charset="0"/>
                <a:ea typeface="Calibri" pitchFamily="34" charset="-122"/>
                <a:cs typeface="Calibri" pitchFamily="34" charset="-120"/>
              </a:rPr>
              <a:t>Sécurité renforcée (collectivité publique)</a:t>
            </a:r>
            <a:endParaRPr lang="en-US" sz="1400" dirty="0"/>
          </a:p>
          <a:p>
            <a:pPr marL="152400" indent="-152400">
              <a:lnSpc>
                <a:spcPct val="105000"/>
              </a:lnSpc>
              <a:spcAft>
                <a:spcPts val="900"/>
              </a:spcAft>
              <a:buSzPct val="100000"/>
              <a:buChar char="•"/>
            </a:pPr>
            <a:r>
              <a:rPr lang="en-US" sz="1400" dirty="0">
                <a:solidFill>
                  <a:srgbClr val="384050"/>
                </a:solidFill>
                <a:latin typeface="Calibri" pitchFamily="34" charset="0"/>
                <a:ea typeface="Calibri" pitchFamily="34" charset="-122"/>
                <a:cs typeface="Calibri" pitchFamily="34" charset="-120"/>
              </a:rPr>
              <a:t>Cohérence avec la charte graphique régionale</a:t>
            </a:r>
            <a:endParaRPr lang="en-US" sz="1400" dirty="0"/>
          </a:p>
          <a:p>
            <a:pPr marL="152400" indent="-152400">
              <a:lnSpc>
                <a:spcPct val="105000"/>
              </a:lnSpc>
              <a:spcAft>
                <a:spcPts val="900"/>
              </a:spcAft>
              <a:buSzPct val="100000"/>
              <a:buChar char="•"/>
            </a:pPr>
            <a:r>
              <a:rPr lang="en-US" sz="1400" dirty="0">
                <a:solidFill>
                  <a:srgbClr val="384050"/>
                </a:solidFill>
                <a:latin typeface="Calibri" pitchFamily="34" charset="0"/>
                <a:ea typeface="Calibri" pitchFamily="34" charset="-122"/>
                <a:cs typeface="Calibri" pitchFamily="34" charset="-120"/>
              </a:rPr>
              <a:t>Accès à l'API restreint à l'application</a:t>
            </a:r>
            <a:endParaRPr lang="en-US" sz="1400" dirty="0"/>
          </a:p>
          <a:p>
            <a:pPr marL="152400" indent="-152400">
              <a:lnSpc>
                <a:spcPct val="105000"/>
              </a:lnSpc>
              <a:spcAft>
                <a:spcPts val="900"/>
              </a:spcAft>
              <a:buSzPct val="100000"/>
              <a:buChar char="•"/>
            </a:pPr>
            <a:r>
              <a:rPr lang="en-US" sz="1400" dirty="0">
                <a:solidFill>
                  <a:srgbClr val="384050"/>
                </a:solidFill>
                <a:latin typeface="Calibri" pitchFamily="34" charset="0"/>
                <a:ea typeface="Calibri" pitchFamily="34" charset="-122"/>
                <a:cs typeface="Calibri" pitchFamily="34" charset="-120"/>
              </a:rPr>
              <a:t>Versioning sur GitHub (dépôt public)</a:t>
            </a:r>
            <a:endParaRPr lang="en-US" sz="1400" dirty="0"/>
          </a:p>
        </p:txBody>
      </p:sp>
      <p:sp>
        <p:nvSpPr>
          <p:cNvPr id="6" name="Shape 4"/>
          <p:cNvSpPr/>
          <p:nvPr/>
        </p:nvSpPr>
        <p:spPr>
          <a:xfrm>
            <a:off x="6400800" y="1371600"/>
            <a:ext cx="5212080" cy="4572000"/>
          </a:xfrm>
          <a:prstGeom prst="roundRect">
            <a:avLst>
              <a:gd name="adj" fmla="val 1600"/>
            </a:avLst>
          </a:prstGeom>
          <a:solidFill>
            <a:srgbClr val="F1F8FC"/>
          </a:solidFill>
          <a:ln w="9525">
            <a:solidFill>
              <a:srgbClr val="D0D7DE"/>
            </a:solidFill>
            <a:prstDash val="solid"/>
          </a:ln>
        </p:spPr>
      </p:sp>
      <p:sp>
        <p:nvSpPr>
          <p:cNvPr id="7" name="Text 5"/>
          <p:cNvSpPr/>
          <p:nvPr/>
        </p:nvSpPr>
        <p:spPr>
          <a:xfrm>
            <a:off x="6766560" y="1691640"/>
            <a:ext cx="448056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Livrables</a:t>
            </a:r>
            <a:endParaRPr lang="en-US" sz="1700" dirty="0"/>
          </a:p>
        </p:txBody>
      </p:sp>
      <p:sp>
        <p:nvSpPr>
          <p:cNvPr id="8" name="Text 6"/>
          <p:cNvSpPr/>
          <p:nvPr/>
        </p:nvSpPr>
        <p:spPr>
          <a:xfrm>
            <a:off x="6766560" y="2286000"/>
            <a:ext cx="4480560" cy="338328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400" dirty="0">
                <a:solidFill>
                  <a:srgbClr val="384050"/>
                </a:solidFill>
                <a:latin typeface="Calibri" pitchFamily="34" charset="0"/>
                <a:ea typeface="Calibri" pitchFamily="34" charset="-122"/>
                <a:cs typeface="Calibri" pitchFamily="34" charset="-120"/>
              </a:rPr>
              <a:t>Dossier de projet (PDF)</a:t>
            </a:r>
            <a:endParaRPr lang="en-US" sz="1400" dirty="0"/>
          </a:p>
          <a:p>
            <a:pPr marL="152400" indent="-152400">
              <a:lnSpc>
                <a:spcPct val="105000"/>
              </a:lnSpc>
              <a:spcAft>
                <a:spcPts val="900"/>
              </a:spcAft>
              <a:buSzPct val="100000"/>
              <a:buChar char="•"/>
            </a:pPr>
            <a:r>
              <a:rPr lang="en-US" sz="1400" dirty="0">
                <a:solidFill>
                  <a:srgbClr val="384050"/>
                </a:solidFill>
                <a:latin typeface="Calibri" pitchFamily="34" charset="0"/>
                <a:ea typeface="Calibri" pitchFamily="34" charset="-122"/>
                <a:cs typeface="Calibri" pitchFamily="34" charset="-120"/>
              </a:rPr>
              <a:t>Maquettes Figma — 375 / 768 / 1280 px</a:t>
            </a:r>
            <a:endParaRPr lang="en-US" sz="1400" dirty="0"/>
          </a:p>
          <a:p>
            <a:pPr marL="152400" indent="-152400">
              <a:lnSpc>
                <a:spcPct val="105000"/>
              </a:lnSpc>
              <a:spcAft>
                <a:spcPts val="900"/>
              </a:spcAft>
              <a:buSzPct val="100000"/>
              <a:buChar char="•"/>
            </a:pPr>
            <a:r>
              <a:rPr lang="en-US" sz="1400" dirty="0">
                <a:solidFill>
                  <a:srgbClr val="384050"/>
                </a:solidFill>
                <a:latin typeface="Calibri" pitchFamily="34" charset="0"/>
                <a:ea typeface="Calibri" pitchFamily="34" charset="-122"/>
                <a:cs typeface="Calibri" pitchFamily="34" charset="-120"/>
              </a:rPr>
              <a:t>Dépôt GitHub : code, scripts SQL, README</a:t>
            </a:r>
            <a:endParaRPr lang="en-US" sz="1400" dirty="0"/>
          </a:p>
          <a:p>
            <a:pPr marL="152400" indent="-152400">
              <a:lnSpc>
                <a:spcPct val="105000"/>
              </a:lnSpc>
              <a:spcAft>
                <a:spcPts val="900"/>
              </a:spcAft>
              <a:buSzPct val="100000"/>
              <a:buChar char="•"/>
            </a:pPr>
            <a:r>
              <a:rPr lang="en-US" sz="1400" dirty="0">
                <a:solidFill>
                  <a:srgbClr val="384050"/>
                </a:solidFill>
                <a:latin typeface="Calibri" pitchFamily="34" charset="0"/>
                <a:ea typeface="Calibri" pitchFamily="34" charset="-122"/>
                <a:cs typeface="Calibri" pitchFamily="34" charset="-120"/>
              </a:rPr>
              <a:t>Site déployé en ligne (front + API + BDD)</a:t>
            </a:r>
            <a:endParaRPr lang="en-US" sz="1400" dirty="0"/>
          </a:p>
          <a:p>
            <a:pPr marL="152400" indent="-152400">
              <a:lnSpc>
                <a:spcPct val="105000"/>
              </a:lnSpc>
              <a:spcAft>
                <a:spcPts val="900"/>
              </a:spcAft>
              <a:buSzPct val="100000"/>
              <a:buChar char="•"/>
            </a:pPr>
            <a:r>
              <a:rPr lang="en-US" sz="1400" dirty="0">
                <a:solidFill>
                  <a:srgbClr val="384050"/>
                </a:solidFill>
                <a:latin typeface="Calibri" pitchFamily="34" charset="0"/>
                <a:ea typeface="Calibri" pitchFamily="34" charset="-122"/>
                <a:cs typeface="Calibri" pitchFamily="34" charset="-120"/>
              </a:rPr>
              <a:t>Support de présentation</a:t>
            </a:r>
            <a:endParaRPr lang="en-US" sz="14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Environnement de travail et objectifs qualité</a:t>
            </a:r>
            <a:endParaRPr lang="en-US" sz="3000" dirty="0"/>
          </a:p>
        </p:txBody>
      </p:sp>
      <p:sp>
        <p:nvSpPr>
          <p:cNvPr id="3" name="Shape 1"/>
          <p:cNvSpPr/>
          <p:nvPr/>
        </p:nvSpPr>
        <p:spPr>
          <a:xfrm>
            <a:off x="640080" y="1371600"/>
            <a:ext cx="5486400" cy="4572000"/>
          </a:xfrm>
          <a:prstGeom prst="roundRect">
            <a:avLst>
              <a:gd name="adj" fmla="val 1600"/>
            </a:avLst>
          </a:prstGeom>
          <a:solidFill>
            <a:srgbClr val="F1F8FC"/>
          </a:solidFill>
          <a:ln w="9525">
            <a:solidFill>
              <a:srgbClr val="D0D7DE"/>
            </a:solidFill>
            <a:prstDash val="solid"/>
          </a:ln>
        </p:spPr>
      </p:sp>
      <p:sp>
        <p:nvSpPr>
          <p:cNvPr id="4" name="Text 2"/>
          <p:cNvSpPr/>
          <p:nvPr/>
        </p:nvSpPr>
        <p:spPr>
          <a:xfrm>
            <a:off x="1005840" y="1691640"/>
            <a:ext cx="475488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Environnement humain et technique</a:t>
            </a:r>
            <a:endParaRPr lang="en-US" sz="1700" dirty="0"/>
          </a:p>
        </p:txBody>
      </p:sp>
      <p:sp>
        <p:nvSpPr>
          <p:cNvPr id="5" name="Text 3"/>
          <p:cNvSpPr/>
          <p:nvPr/>
        </p:nvSpPr>
        <p:spPr>
          <a:xfrm>
            <a:off x="1005840" y="2286000"/>
            <a:ext cx="4754880" cy="338328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350" dirty="0">
                <a:solidFill>
                  <a:srgbClr val="384050"/>
                </a:solidFill>
                <a:latin typeface="Calibri" pitchFamily="34" charset="0"/>
                <a:ea typeface="Calibri" pitchFamily="34" charset="-122"/>
                <a:cs typeface="Calibri" pitchFamily="34" charset="-120"/>
              </a:rPr>
              <a:t>Projet mené en autonomie complète, du maquettage au déploiement</a:t>
            </a:r>
            <a:endParaRPr lang="en-US" sz="1350" dirty="0"/>
          </a:p>
          <a:p>
            <a:pPr marL="152400" indent="-152400">
              <a:lnSpc>
                <a:spcPct val="105000"/>
              </a:lnSpc>
              <a:spcAft>
                <a:spcPts val="900"/>
              </a:spcAft>
              <a:buSzPct val="100000"/>
              <a:buChar char="•"/>
            </a:pPr>
            <a:r>
              <a:rPr lang="en-US" sz="1350" dirty="0">
                <a:solidFill>
                  <a:srgbClr val="384050"/>
                </a:solidFill>
                <a:latin typeface="Calibri" pitchFamily="34" charset="0"/>
                <a:ea typeface="Calibri" pitchFamily="34" charset="-122"/>
                <a:cs typeface="Calibri" pitchFamily="34" charset="-120"/>
              </a:rPr>
              <a:t>Interlocuteur métier : service de la région, à Lyon</a:t>
            </a:r>
            <a:endParaRPr lang="en-US" sz="1350" dirty="0"/>
          </a:p>
          <a:p>
            <a:pPr marL="152400" indent="-152400">
              <a:lnSpc>
                <a:spcPct val="105000"/>
              </a:lnSpc>
              <a:spcAft>
                <a:spcPts val="900"/>
              </a:spcAft>
              <a:buSzPct val="100000"/>
              <a:buChar char="•"/>
            </a:pPr>
            <a:r>
              <a:rPr lang="en-US" sz="1350" dirty="0">
                <a:solidFill>
                  <a:srgbClr val="384050"/>
                </a:solidFill>
                <a:latin typeface="Calibri" pitchFamily="34" charset="0"/>
                <a:ea typeface="Calibri" pitchFamily="34" charset="-122"/>
                <a:cs typeface="Calibri" pitchFamily="34" charset="-120"/>
              </a:rPr>
              <a:t>Windows 11 · VS Code · Node.js · Git (branches + pull requests)</a:t>
            </a:r>
            <a:endParaRPr lang="en-US" sz="1350" dirty="0"/>
          </a:p>
          <a:p>
            <a:pPr marL="152400" indent="-152400">
              <a:lnSpc>
                <a:spcPct val="105000"/>
              </a:lnSpc>
              <a:spcAft>
                <a:spcPts val="900"/>
              </a:spcAft>
              <a:buSzPct val="100000"/>
              <a:buChar char="•"/>
            </a:pPr>
            <a:r>
              <a:rPr lang="en-US" sz="1350" dirty="0">
                <a:solidFill>
                  <a:srgbClr val="384050"/>
                </a:solidFill>
                <a:latin typeface="Calibri" pitchFamily="34" charset="0"/>
                <a:ea typeface="Calibri" pitchFamily="34" charset="-122"/>
                <a:cs typeface="Calibri" pitchFamily="34" charset="-120"/>
              </a:rPr>
              <a:t>En local : XAMPP (MySQL/MariaDB) et MongoDB</a:t>
            </a:r>
            <a:endParaRPr lang="en-US" sz="1350" dirty="0"/>
          </a:p>
          <a:p>
            <a:pPr marL="152400" indent="-152400">
              <a:lnSpc>
                <a:spcPct val="105000"/>
              </a:lnSpc>
              <a:spcAft>
                <a:spcPts val="900"/>
              </a:spcAft>
              <a:buSzPct val="100000"/>
              <a:buChar char="•"/>
            </a:pPr>
            <a:r>
              <a:rPr lang="en-US" sz="1350" dirty="0">
                <a:solidFill>
                  <a:srgbClr val="384050"/>
                </a:solidFill>
                <a:latin typeface="Calibri" pitchFamily="34" charset="0"/>
                <a:ea typeface="Calibri" pitchFamily="34" charset="-122"/>
                <a:cs typeface="Calibri" pitchFamily="34" charset="-120"/>
              </a:rPr>
              <a:t>Hébergement : Vercel (front) · Render (API) · AlwaysData (BDD)</a:t>
            </a:r>
            <a:endParaRPr lang="en-US" sz="1350" dirty="0"/>
          </a:p>
        </p:txBody>
      </p:sp>
      <p:sp>
        <p:nvSpPr>
          <p:cNvPr id="6" name="Shape 4"/>
          <p:cNvSpPr/>
          <p:nvPr/>
        </p:nvSpPr>
        <p:spPr>
          <a:xfrm>
            <a:off x="6400800" y="1371600"/>
            <a:ext cx="5212080" cy="4572000"/>
          </a:xfrm>
          <a:prstGeom prst="roundRect">
            <a:avLst>
              <a:gd name="adj" fmla="val 1600"/>
            </a:avLst>
          </a:prstGeom>
          <a:solidFill>
            <a:srgbClr val="F1F8FC"/>
          </a:solidFill>
          <a:ln w="9525">
            <a:solidFill>
              <a:srgbClr val="D0D7DE"/>
            </a:solidFill>
            <a:prstDash val="solid"/>
          </a:ln>
        </p:spPr>
      </p:sp>
      <p:sp>
        <p:nvSpPr>
          <p:cNvPr id="7" name="Text 5"/>
          <p:cNvSpPr/>
          <p:nvPr/>
        </p:nvSpPr>
        <p:spPr>
          <a:xfrm>
            <a:off x="6766560" y="1691640"/>
            <a:ext cx="448056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Objectifs de qualité</a:t>
            </a:r>
            <a:endParaRPr lang="en-US" sz="1700" dirty="0"/>
          </a:p>
        </p:txBody>
      </p:sp>
      <p:sp>
        <p:nvSpPr>
          <p:cNvPr id="8" name="Text 6"/>
          <p:cNvSpPr/>
          <p:nvPr/>
        </p:nvSpPr>
        <p:spPr>
          <a:xfrm>
            <a:off x="6766560" y="2286000"/>
            <a:ext cx="4480560" cy="338328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350" dirty="0">
                <a:solidFill>
                  <a:srgbClr val="384050"/>
                </a:solidFill>
                <a:latin typeface="Calibri" pitchFamily="34" charset="0"/>
                <a:ea typeface="Calibri" pitchFamily="34" charset="-122"/>
                <a:cs typeface="Calibri" pitchFamily="34" charset="-120"/>
              </a:rPr>
              <a:t>Accessibilité conforme WCAG 2.1 / RGAA</a:t>
            </a:r>
            <a:endParaRPr lang="en-US" sz="1350" dirty="0"/>
          </a:p>
          <a:p>
            <a:pPr marL="152400" indent="-152400">
              <a:lnSpc>
                <a:spcPct val="105000"/>
              </a:lnSpc>
              <a:spcAft>
                <a:spcPts val="900"/>
              </a:spcAft>
              <a:buSzPct val="100000"/>
              <a:buChar char="•"/>
            </a:pPr>
            <a:r>
              <a:rPr lang="en-US" sz="1350" dirty="0">
                <a:solidFill>
                  <a:srgbClr val="384050"/>
                </a:solidFill>
                <a:latin typeface="Calibri" pitchFamily="34" charset="0"/>
                <a:ea typeface="Calibri" pitchFamily="34" charset="-122"/>
                <a:cs typeface="Calibri" pitchFamily="34" charset="-120"/>
              </a:rPr>
              <a:t>Fonctionnement mobile, tablette, ordinateur</a:t>
            </a:r>
            <a:endParaRPr lang="en-US" sz="1350" dirty="0"/>
          </a:p>
          <a:p>
            <a:pPr marL="152400" indent="-152400">
              <a:lnSpc>
                <a:spcPct val="105000"/>
              </a:lnSpc>
              <a:spcAft>
                <a:spcPts val="900"/>
              </a:spcAft>
              <a:buSzPct val="100000"/>
              <a:buChar char="•"/>
            </a:pPr>
            <a:r>
              <a:rPr lang="en-US" sz="1350" dirty="0">
                <a:solidFill>
                  <a:srgbClr val="384050"/>
                </a:solidFill>
                <a:latin typeface="Calibri" pitchFamily="34" charset="0"/>
                <a:ea typeface="Calibri" pitchFamily="34" charset="-122"/>
                <a:cs typeface="Calibri" pitchFamily="34" charset="-120"/>
              </a:rPr>
              <a:t>Sécurité alignée sur l'OWASP</a:t>
            </a:r>
            <a:endParaRPr lang="en-US" sz="1350" dirty="0"/>
          </a:p>
          <a:p>
            <a:pPr marL="152400" indent="-152400">
              <a:lnSpc>
                <a:spcPct val="105000"/>
              </a:lnSpc>
              <a:spcAft>
                <a:spcPts val="900"/>
              </a:spcAft>
              <a:buSzPct val="100000"/>
              <a:buChar char="•"/>
            </a:pPr>
            <a:r>
              <a:rPr lang="en-US" sz="1350" dirty="0">
                <a:solidFill>
                  <a:srgbClr val="384050"/>
                </a:solidFill>
                <a:latin typeface="Calibri" pitchFamily="34" charset="0"/>
                <a:ea typeface="Calibri" pitchFamily="34" charset="-122"/>
                <a:cs typeface="Calibri" pitchFamily="34" charset="-120"/>
              </a:rPr>
              <a:t>Tests automatisés de l'API (Mocha)</a:t>
            </a:r>
            <a:endParaRPr lang="en-US" sz="1350" dirty="0"/>
          </a:p>
          <a:p>
            <a:pPr marL="152400" indent="-152400">
              <a:lnSpc>
                <a:spcPct val="105000"/>
              </a:lnSpc>
              <a:spcAft>
                <a:spcPts val="900"/>
              </a:spcAft>
              <a:buSzPct val="100000"/>
              <a:buChar char="•"/>
            </a:pPr>
            <a:r>
              <a:rPr lang="en-US" sz="1350" dirty="0">
                <a:solidFill>
                  <a:srgbClr val="384050"/>
                </a:solidFill>
                <a:latin typeface="Calibri" pitchFamily="34" charset="0"/>
                <a:ea typeface="Calibri" pitchFamily="34" charset="-122"/>
                <a:cs typeface="Calibri" pitchFamily="34" charset="-120"/>
              </a:rPr>
              <a:t>Documentation complète (README, scripts, dossier)</a:t>
            </a:r>
            <a:endParaRPr lang="en-US" sz="13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Maquettes Figma — web et web mobile</a:t>
            </a:r>
            <a:endParaRPr lang="en-US" sz="3000" dirty="0"/>
          </a:p>
        </p:txBody>
      </p:sp>
      <p:sp>
        <p:nvSpPr>
          <p:cNvPr id="3" name="Text 1"/>
          <p:cNvSpPr/>
          <p:nvPr/>
        </p:nvSpPr>
        <p:spPr>
          <a:xfrm>
            <a:off x="548640" y="960120"/>
            <a:ext cx="10972800" cy="365760"/>
          </a:xfrm>
          <a:prstGeom prst="rect">
            <a:avLst/>
          </a:prstGeom>
          <a:noFill/>
          <a:ln/>
        </p:spPr>
        <p:txBody>
          <a:bodyPr wrap="square" lIns="0" tIns="0" rIns="0" bIns="0" rtlCol="0" anchor="ctr"/>
          <a:lstStyle/>
          <a:p>
            <a:pPr indent="0" marL="0">
              <a:buNone/>
            </a:pPr>
            <a:r>
              <a:rPr lang="en-US" sz="1350" dirty="0">
                <a:solidFill>
                  <a:srgbClr val="384050"/>
                </a:solidFill>
                <a:latin typeface="Calibri" pitchFamily="34" charset="0"/>
                <a:ea typeface="Calibri" pitchFamily="34" charset="-122"/>
                <a:cs typeface="Calibri" pitchFamily="34" charset="-120"/>
              </a:rPr>
              <a:t>Conception mobile-first, déclinée en trois résolutions : 375, 768 et 1280 px.</a:t>
            </a:r>
            <a:endParaRPr lang="en-US" sz="1350" dirty="0"/>
          </a:p>
        </p:txBody>
      </p:sp>
      <p:pic>
        <p:nvPicPr>
          <p:cNvPr id="4" name="Image 0" descr="C:/Users/Sylvain/Desktop/CEF-F516414B/Devoir bilan - Créez le site Web Trouve ton artisan avec React.JS/trouve-ton-artisan/docs/captures/accueil-desktop.png">    </p:cNvPr>
          <p:cNvPicPr>
            <a:picLocks noChangeAspect="1"/>
          </p:cNvPicPr>
          <p:nvPr/>
        </p:nvPicPr>
        <p:blipFill>
          <a:blip r:embed="rId1"/>
          <a:stretch>
            <a:fillRect/>
          </a:stretch>
        </p:blipFill>
        <p:spPr>
          <a:xfrm>
            <a:off x="1097280" y="1463040"/>
            <a:ext cx="4178808" cy="4572000"/>
          </a:xfrm>
          <a:prstGeom prst="rect">
            <a:avLst/>
          </a:prstGeom>
        </p:spPr>
      </p:pic>
      <p:sp>
        <p:nvSpPr>
          <p:cNvPr id="5" name="Text 2"/>
          <p:cNvSpPr/>
          <p:nvPr/>
        </p:nvSpPr>
        <p:spPr>
          <a:xfrm>
            <a:off x="1097280" y="6080760"/>
            <a:ext cx="4178808" cy="274320"/>
          </a:xfrm>
          <a:prstGeom prst="rect">
            <a:avLst/>
          </a:prstGeom>
          <a:noFill/>
          <a:ln/>
        </p:spPr>
        <p:txBody>
          <a:bodyPr wrap="square" lIns="0" tIns="0" rIns="0" bIns="0" rtlCol="0" anchor="ctr"/>
          <a:lstStyle/>
          <a:p>
            <a:pPr algn="ctr" indent="0" marL="0">
              <a:buNone/>
            </a:pPr>
            <a:r>
              <a:rPr lang="en-US" sz="1100" i="1" dirty="0">
                <a:solidFill>
                  <a:srgbClr val="8A94A6"/>
                </a:solidFill>
                <a:latin typeface="Calibri" pitchFamily="34" charset="0"/>
                <a:ea typeface="Calibri" pitchFamily="34" charset="-122"/>
                <a:cs typeface="Calibri" pitchFamily="34" charset="-120"/>
              </a:rPr>
              <a:t>Accueil — version ordinateur (1280 px)</a:t>
            </a:r>
            <a:endParaRPr lang="en-US" sz="1100" dirty="0"/>
          </a:p>
        </p:txBody>
      </p:sp>
      <p:pic>
        <p:nvPicPr>
          <p:cNvPr id="6" name="Image 1" descr="C:/Users/Sylvain/Desktop/CEF-F516414B/Devoir bilan - Créez le site Web Trouve ton artisan avec React.JS/trouve-ton-artisan/docs/captures/accueil-mobile.png">    </p:cNvPr>
          <p:cNvPicPr>
            <a:picLocks noChangeAspect="1"/>
          </p:cNvPicPr>
          <p:nvPr/>
        </p:nvPicPr>
        <p:blipFill>
          <a:blip r:embed="rId2"/>
          <a:stretch>
            <a:fillRect/>
          </a:stretch>
        </p:blipFill>
        <p:spPr>
          <a:xfrm>
            <a:off x="7863840" y="1463040"/>
            <a:ext cx="877824" cy="4572000"/>
          </a:xfrm>
          <a:prstGeom prst="rect">
            <a:avLst/>
          </a:prstGeom>
        </p:spPr>
      </p:pic>
      <p:sp>
        <p:nvSpPr>
          <p:cNvPr id="7" name="Text 3"/>
          <p:cNvSpPr/>
          <p:nvPr/>
        </p:nvSpPr>
        <p:spPr>
          <a:xfrm>
            <a:off x="7223760" y="6080760"/>
            <a:ext cx="2194560" cy="274320"/>
          </a:xfrm>
          <a:prstGeom prst="rect">
            <a:avLst/>
          </a:prstGeom>
          <a:noFill/>
          <a:ln/>
        </p:spPr>
        <p:txBody>
          <a:bodyPr wrap="square" lIns="0" tIns="0" rIns="0" bIns="0" rtlCol="0" anchor="ctr"/>
          <a:lstStyle/>
          <a:p>
            <a:pPr algn="ctr" indent="0" marL="0">
              <a:buNone/>
            </a:pPr>
            <a:r>
              <a:rPr lang="en-US" sz="1100" i="1" dirty="0">
                <a:solidFill>
                  <a:srgbClr val="8A94A6"/>
                </a:solidFill>
                <a:latin typeface="Calibri" pitchFamily="34" charset="0"/>
                <a:ea typeface="Calibri" pitchFamily="34" charset="-122"/>
                <a:cs typeface="Calibri" pitchFamily="34" charset="-120"/>
              </a:rPr>
              <a:t>Accueil — mobile (375 px)</a:t>
            </a:r>
            <a:endParaRPr lang="en-US" sz="11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Charte graphique</a:t>
            </a:r>
            <a:endParaRPr lang="en-US" sz="3000" dirty="0"/>
          </a:p>
        </p:txBody>
      </p:sp>
      <p:pic>
        <p:nvPicPr>
          <p:cNvPr id="3" name="Image 0" descr="C:/Users/Sylvain/Desktop/CEF-F516414B/Devoir bilan - Créez le site Web Trouve ton artisan avec React.JS/trouve-ton-artisan/docs/captures/charte-graphique.png">    </p:cNvPr>
          <p:cNvPicPr>
            <a:picLocks noChangeAspect="1"/>
          </p:cNvPicPr>
          <p:nvPr/>
        </p:nvPicPr>
        <p:blipFill>
          <a:blip r:embed="rId1"/>
          <a:stretch>
            <a:fillRect/>
          </a:stretch>
        </p:blipFill>
        <p:spPr>
          <a:xfrm>
            <a:off x="640080" y="1463040"/>
            <a:ext cx="5852160" cy="4114800"/>
          </a:xfrm>
          <a:prstGeom prst="rect">
            <a:avLst/>
          </a:prstGeom>
        </p:spPr>
      </p:pic>
      <p:sp>
        <p:nvSpPr>
          <p:cNvPr id="4" name="Text 1"/>
          <p:cNvSpPr/>
          <p:nvPr/>
        </p:nvSpPr>
        <p:spPr>
          <a:xfrm>
            <a:off x="640080" y="5669280"/>
            <a:ext cx="5852160" cy="274320"/>
          </a:xfrm>
          <a:prstGeom prst="rect">
            <a:avLst/>
          </a:prstGeom>
          <a:noFill/>
          <a:ln/>
        </p:spPr>
        <p:txBody>
          <a:bodyPr wrap="square" lIns="0" tIns="0" rIns="0" bIns="0" rtlCol="0" anchor="ctr"/>
          <a:lstStyle/>
          <a:p>
            <a:pPr algn="ctr" indent="0" marL="0">
              <a:buNone/>
            </a:pPr>
            <a:r>
              <a:rPr lang="en-US" sz="1100" i="1" dirty="0">
                <a:solidFill>
                  <a:srgbClr val="8A94A6"/>
                </a:solidFill>
                <a:latin typeface="Calibri" pitchFamily="34" charset="0"/>
                <a:ea typeface="Calibri" pitchFamily="34" charset="-122"/>
                <a:cs typeface="Calibri" pitchFamily="34" charset="-120"/>
              </a:rPr>
              <a:t>Logo, favicon, palette et typographie</a:t>
            </a:r>
            <a:endParaRPr lang="en-US" sz="1100" dirty="0"/>
          </a:p>
        </p:txBody>
      </p:sp>
      <p:sp>
        <p:nvSpPr>
          <p:cNvPr id="5" name="Shape 2"/>
          <p:cNvSpPr/>
          <p:nvPr/>
        </p:nvSpPr>
        <p:spPr>
          <a:xfrm>
            <a:off x="7040880" y="1600200"/>
            <a:ext cx="310896" cy="310896"/>
          </a:xfrm>
          <a:prstGeom prst="ellipse">
            <a:avLst/>
          </a:prstGeom>
          <a:solidFill>
            <a:srgbClr val="0074C7"/>
          </a:solidFill>
          <a:ln w="9525">
            <a:solidFill>
              <a:srgbClr val="D0D7DE"/>
            </a:solidFill>
            <a:prstDash val="solid"/>
          </a:ln>
        </p:spPr>
      </p:sp>
      <p:sp>
        <p:nvSpPr>
          <p:cNvPr id="6" name="Text 3"/>
          <p:cNvSpPr/>
          <p:nvPr/>
        </p:nvSpPr>
        <p:spPr>
          <a:xfrm>
            <a:off x="7498080" y="1554480"/>
            <a:ext cx="4206240" cy="411480"/>
          </a:xfrm>
          <a:prstGeom prst="rect">
            <a:avLst/>
          </a:prstGeom>
          <a:noFill/>
          <a:ln/>
        </p:spPr>
        <p:txBody>
          <a:bodyPr wrap="square" lIns="0" tIns="0" rIns="0" bIns="0" rtlCol="0" anchor="ctr"/>
          <a:lstStyle/>
          <a:p>
            <a:pPr indent="0" marL="0">
              <a:buNone/>
            </a:pPr>
            <a:r>
              <a:rPr lang="en-US" sz="1300" dirty="0">
                <a:solidFill>
                  <a:srgbClr val="384050"/>
                </a:solidFill>
                <a:latin typeface="Calibri" pitchFamily="34" charset="0"/>
                <a:ea typeface="Calibri" pitchFamily="34" charset="-122"/>
                <a:cs typeface="Calibri" pitchFamily="34" charset="-120"/>
              </a:rPr>
              <a:t>Bleu primaire — boutons, liens</a:t>
            </a:r>
            <a:endParaRPr lang="en-US" sz="1300" dirty="0"/>
          </a:p>
        </p:txBody>
      </p:sp>
      <p:sp>
        <p:nvSpPr>
          <p:cNvPr id="7" name="Shape 4"/>
          <p:cNvSpPr/>
          <p:nvPr/>
        </p:nvSpPr>
        <p:spPr>
          <a:xfrm>
            <a:off x="7040880" y="2103120"/>
            <a:ext cx="310896" cy="310896"/>
          </a:xfrm>
          <a:prstGeom prst="ellipse">
            <a:avLst/>
          </a:prstGeom>
          <a:solidFill>
            <a:srgbClr val="00497C"/>
          </a:solidFill>
          <a:ln w="9525">
            <a:solidFill>
              <a:srgbClr val="D0D7DE"/>
            </a:solidFill>
            <a:prstDash val="solid"/>
          </a:ln>
        </p:spPr>
      </p:sp>
      <p:sp>
        <p:nvSpPr>
          <p:cNvPr id="8" name="Text 5"/>
          <p:cNvSpPr/>
          <p:nvPr/>
        </p:nvSpPr>
        <p:spPr>
          <a:xfrm>
            <a:off x="7498080" y="2057400"/>
            <a:ext cx="4206240" cy="411480"/>
          </a:xfrm>
          <a:prstGeom prst="rect">
            <a:avLst/>
          </a:prstGeom>
          <a:noFill/>
          <a:ln/>
        </p:spPr>
        <p:txBody>
          <a:bodyPr wrap="square" lIns="0" tIns="0" rIns="0" bIns="0" rtlCol="0" anchor="ctr"/>
          <a:lstStyle/>
          <a:p>
            <a:pPr indent="0" marL="0">
              <a:buNone/>
            </a:pPr>
            <a:r>
              <a:rPr lang="en-US" sz="1300" dirty="0">
                <a:solidFill>
                  <a:srgbClr val="384050"/>
                </a:solidFill>
                <a:latin typeface="Calibri" pitchFamily="34" charset="0"/>
                <a:ea typeface="Calibri" pitchFamily="34" charset="-122"/>
                <a:cs typeface="Calibri" pitchFamily="34" charset="-120"/>
              </a:rPr>
              <a:t>Bleu foncé — accents, survols</a:t>
            </a:r>
            <a:endParaRPr lang="en-US" sz="1300" dirty="0"/>
          </a:p>
        </p:txBody>
      </p:sp>
      <p:sp>
        <p:nvSpPr>
          <p:cNvPr id="9" name="Shape 6"/>
          <p:cNvSpPr/>
          <p:nvPr/>
        </p:nvSpPr>
        <p:spPr>
          <a:xfrm>
            <a:off x="7040880" y="2606040"/>
            <a:ext cx="310896" cy="310896"/>
          </a:xfrm>
          <a:prstGeom prst="ellipse">
            <a:avLst/>
          </a:prstGeom>
          <a:solidFill>
            <a:srgbClr val="F1F8FC"/>
          </a:solidFill>
          <a:ln w="9525">
            <a:solidFill>
              <a:srgbClr val="D0D7DE"/>
            </a:solidFill>
            <a:prstDash val="solid"/>
          </a:ln>
        </p:spPr>
      </p:sp>
      <p:sp>
        <p:nvSpPr>
          <p:cNvPr id="10" name="Text 7"/>
          <p:cNvSpPr/>
          <p:nvPr/>
        </p:nvSpPr>
        <p:spPr>
          <a:xfrm>
            <a:off x="7498080" y="2560320"/>
            <a:ext cx="4206240" cy="411480"/>
          </a:xfrm>
          <a:prstGeom prst="rect">
            <a:avLst/>
          </a:prstGeom>
          <a:noFill/>
          <a:ln/>
        </p:spPr>
        <p:txBody>
          <a:bodyPr wrap="square" lIns="0" tIns="0" rIns="0" bIns="0" rtlCol="0" anchor="ctr"/>
          <a:lstStyle/>
          <a:p>
            <a:pPr indent="0" marL="0">
              <a:buNone/>
            </a:pPr>
            <a:r>
              <a:rPr lang="en-US" sz="1300" dirty="0">
                <a:solidFill>
                  <a:srgbClr val="384050"/>
                </a:solidFill>
                <a:latin typeface="Calibri" pitchFamily="34" charset="0"/>
                <a:ea typeface="Calibri" pitchFamily="34" charset="-122"/>
                <a:cs typeface="Calibri" pitchFamily="34" charset="-120"/>
              </a:rPr>
              <a:t>Fond clair — sections secondaires</a:t>
            </a:r>
            <a:endParaRPr lang="en-US" sz="1300" dirty="0"/>
          </a:p>
        </p:txBody>
      </p:sp>
      <p:sp>
        <p:nvSpPr>
          <p:cNvPr id="11" name="Shape 8"/>
          <p:cNvSpPr/>
          <p:nvPr/>
        </p:nvSpPr>
        <p:spPr>
          <a:xfrm>
            <a:off x="7040880" y="3108960"/>
            <a:ext cx="310896" cy="310896"/>
          </a:xfrm>
          <a:prstGeom prst="ellipse">
            <a:avLst/>
          </a:prstGeom>
          <a:solidFill>
            <a:srgbClr val="384050"/>
          </a:solidFill>
          <a:ln w="9525">
            <a:solidFill>
              <a:srgbClr val="D0D7DE"/>
            </a:solidFill>
            <a:prstDash val="solid"/>
          </a:ln>
        </p:spPr>
      </p:sp>
      <p:sp>
        <p:nvSpPr>
          <p:cNvPr id="12" name="Text 9"/>
          <p:cNvSpPr/>
          <p:nvPr/>
        </p:nvSpPr>
        <p:spPr>
          <a:xfrm>
            <a:off x="7498080" y="3063240"/>
            <a:ext cx="4206240" cy="411480"/>
          </a:xfrm>
          <a:prstGeom prst="rect">
            <a:avLst/>
          </a:prstGeom>
          <a:noFill/>
          <a:ln/>
        </p:spPr>
        <p:txBody>
          <a:bodyPr wrap="square" lIns="0" tIns="0" rIns="0" bIns="0" rtlCol="0" anchor="ctr"/>
          <a:lstStyle/>
          <a:p>
            <a:pPr indent="0" marL="0">
              <a:buNone/>
            </a:pPr>
            <a:r>
              <a:rPr lang="en-US" sz="1300" dirty="0">
                <a:solidFill>
                  <a:srgbClr val="384050"/>
                </a:solidFill>
                <a:latin typeface="Calibri" pitchFamily="34" charset="0"/>
                <a:ea typeface="Calibri" pitchFamily="34" charset="-122"/>
                <a:cs typeface="Calibri" pitchFamily="34" charset="-120"/>
              </a:rPr>
              <a:t>Gris bleuté — texte principal</a:t>
            </a:r>
            <a:endParaRPr lang="en-US" sz="1300" dirty="0"/>
          </a:p>
        </p:txBody>
      </p:sp>
      <p:sp>
        <p:nvSpPr>
          <p:cNvPr id="13" name="Shape 10"/>
          <p:cNvSpPr/>
          <p:nvPr/>
        </p:nvSpPr>
        <p:spPr>
          <a:xfrm>
            <a:off x="7040880" y="3611880"/>
            <a:ext cx="310896" cy="310896"/>
          </a:xfrm>
          <a:prstGeom prst="ellipse">
            <a:avLst/>
          </a:prstGeom>
          <a:solidFill>
            <a:srgbClr val="CD2C2E"/>
          </a:solidFill>
          <a:ln w="9525">
            <a:solidFill>
              <a:srgbClr val="D0D7DE"/>
            </a:solidFill>
            <a:prstDash val="solid"/>
          </a:ln>
        </p:spPr>
      </p:sp>
      <p:sp>
        <p:nvSpPr>
          <p:cNvPr id="14" name="Text 11"/>
          <p:cNvSpPr/>
          <p:nvPr/>
        </p:nvSpPr>
        <p:spPr>
          <a:xfrm>
            <a:off x="7498080" y="3566160"/>
            <a:ext cx="4206240" cy="411480"/>
          </a:xfrm>
          <a:prstGeom prst="rect">
            <a:avLst/>
          </a:prstGeom>
          <a:noFill/>
          <a:ln/>
        </p:spPr>
        <p:txBody>
          <a:bodyPr wrap="square" lIns="0" tIns="0" rIns="0" bIns="0" rtlCol="0" anchor="ctr"/>
          <a:lstStyle/>
          <a:p>
            <a:pPr indent="0" marL="0">
              <a:buNone/>
            </a:pPr>
            <a:r>
              <a:rPr lang="en-US" sz="1300" dirty="0">
                <a:solidFill>
                  <a:srgbClr val="384050"/>
                </a:solidFill>
                <a:latin typeface="Calibri" pitchFamily="34" charset="0"/>
                <a:ea typeface="Calibri" pitchFamily="34" charset="-122"/>
                <a:cs typeface="Calibri" pitchFamily="34" charset="-120"/>
              </a:rPr>
              <a:t>Rouge — erreurs, alertes</a:t>
            </a:r>
            <a:endParaRPr lang="en-US" sz="1300" dirty="0"/>
          </a:p>
        </p:txBody>
      </p:sp>
      <p:sp>
        <p:nvSpPr>
          <p:cNvPr id="15" name="Shape 12"/>
          <p:cNvSpPr/>
          <p:nvPr/>
        </p:nvSpPr>
        <p:spPr>
          <a:xfrm>
            <a:off x="7040880" y="4114800"/>
            <a:ext cx="310896" cy="310896"/>
          </a:xfrm>
          <a:prstGeom prst="ellipse">
            <a:avLst/>
          </a:prstGeom>
          <a:solidFill>
            <a:srgbClr val="82B864"/>
          </a:solidFill>
          <a:ln w="9525">
            <a:solidFill>
              <a:srgbClr val="D0D7DE"/>
            </a:solidFill>
            <a:prstDash val="solid"/>
          </a:ln>
        </p:spPr>
      </p:sp>
      <p:sp>
        <p:nvSpPr>
          <p:cNvPr id="16" name="Text 13"/>
          <p:cNvSpPr/>
          <p:nvPr/>
        </p:nvSpPr>
        <p:spPr>
          <a:xfrm>
            <a:off x="7498080" y="4069080"/>
            <a:ext cx="4206240" cy="411480"/>
          </a:xfrm>
          <a:prstGeom prst="rect">
            <a:avLst/>
          </a:prstGeom>
          <a:noFill/>
          <a:ln/>
        </p:spPr>
        <p:txBody>
          <a:bodyPr wrap="square" lIns="0" tIns="0" rIns="0" bIns="0" rtlCol="0" anchor="ctr"/>
          <a:lstStyle/>
          <a:p>
            <a:pPr indent="0" marL="0">
              <a:buNone/>
            </a:pPr>
            <a:r>
              <a:rPr lang="en-US" sz="1300" dirty="0">
                <a:solidFill>
                  <a:srgbClr val="384050"/>
                </a:solidFill>
                <a:latin typeface="Calibri" pitchFamily="34" charset="0"/>
                <a:ea typeface="Calibri" pitchFamily="34" charset="-122"/>
                <a:cs typeface="Calibri" pitchFamily="34" charset="-120"/>
              </a:rPr>
              <a:t>Vert — confirmations</a:t>
            </a:r>
            <a:endParaRPr lang="en-US" sz="1300" dirty="0"/>
          </a:p>
        </p:txBody>
      </p:sp>
      <p:sp>
        <p:nvSpPr>
          <p:cNvPr id="17" name="Text 14"/>
          <p:cNvSpPr/>
          <p:nvPr/>
        </p:nvSpPr>
        <p:spPr>
          <a:xfrm>
            <a:off x="7040880" y="4800600"/>
            <a:ext cx="4663440" cy="822960"/>
          </a:xfrm>
          <a:prstGeom prst="rect">
            <a:avLst/>
          </a:prstGeom>
          <a:noFill/>
          <a:ln/>
        </p:spPr>
        <p:txBody>
          <a:bodyPr wrap="square" lIns="0" tIns="0" rIns="0" bIns="0" rtlCol="0" anchor="ctr"/>
          <a:lstStyle/>
          <a:p>
            <a:pPr indent="0" marL="0">
              <a:buNone/>
            </a:pPr>
            <a:r>
              <a:rPr lang="en-US" sz="1200" i="1" dirty="0">
                <a:solidFill>
                  <a:srgbClr val="8A94A6"/>
                </a:solidFill>
                <a:latin typeface="Calibri" pitchFamily="34" charset="0"/>
                <a:ea typeface="Calibri" pitchFamily="34" charset="-122"/>
                <a:cs typeface="Calibri" pitchFamily="34" charset="-120"/>
              </a:rPr>
              <a:t>Typographie : Graphik (auto-hébergée en woff2), repli sur des polices système. Inter a servi de substitut dans Figma.</a:t>
            </a:r>
            <a:endParaRPr lang="en-US" sz="12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Enchaînement des écrans</a:t>
            </a:r>
            <a:endParaRPr lang="en-US" sz="3000" dirty="0"/>
          </a:p>
        </p:txBody>
      </p:sp>
      <p:sp>
        <p:nvSpPr>
          <p:cNvPr id="3" name="Text 1"/>
          <p:cNvSpPr/>
          <p:nvPr/>
        </p:nvSpPr>
        <p:spPr>
          <a:xfrm>
            <a:off x="731520" y="1920240"/>
            <a:ext cx="6035040" cy="3200400"/>
          </a:xfrm>
          <a:prstGeom prst="rect">
            <a:avLst/>
          </a:prstGeom>
          <a:noFill/>
          <a:ln/>
        </p:spPr>
        <p:txBody>
          <a:bodyPr wrap="square" lIns="0" tIns="0" rIns="0" bIns="0" rtlCol="0" anchor="t"/>
          <a:lstStyle/>
          <a:p>
            <a:pPr marL="152400" indent="-152400">
              <a:lnSpc>
                <a:spcPct val="105000"/>
              </a:lnSpc>
              <a:spcAft>
                <a:spcPts val="1400"/>
              </a:spcAft>
              <a:buSzPct val="100000"/>
              <a:buChar char="•"/>
            </a:pPr>
            <a:r>
              <a:rPr lang="en-US" sz="1500" dirty="0">
                <a:solidFill>
                  <a:srgbClr val="384050"/>
                </a:solidFill>
                <a:latin typeface="Calibri" pitchFamily="34" charset="0"/>
                <a:ea typeface="Calibri" pitchFamily="34" charset="-122"/>
                <a:cs typeface="Calibri" pitchFamily="34" charset="-120"/>
              </a:rPr>
              <a:t>Depuis l'accueil : la liste (catégorie ou recherche) ou directement une fiche (artisan du mois)</a:t>
            </a:r>
            <a:endParaRPr lang="en-US" sz="1500" dirty="0"/>
          </a:p>
          <a:p>
            <a:pPr marL="152400" indent="-152400">
              <a:lnSpc>
                <a:spcPct val="105000"/>
              </a:lnSpc>
              <a:spcAft>
                <a:spcPts val="1400"/>
              </a:spcAft>
              <a:buSzPct val="100000"/>
              <a:buChar char="•"/>
            </a:pPr>
            <a:r>
              <a:rPr lang="en-US" sz="1500" dirty="0">
                <a:solidFill>
                  <a:srgbClr val="384050"/>
                </a:solidFill>
                <a:latin typeface="Calibri" pitchFamily="34" charset="0"/>
                <a:ea typeface="Calibri" pitchFamily="34" charset="-122"/>
                <a:cs typeface="Calibri" pitchFamily="34" charset="-120"/>
              </a:rPr>
              <a:t>Depuis la liste : la fiche détaillée en un clic</a:t>
            </a:r>
            <a:endParaRPr lang="en-US" sz="1500" dirty="0"/>
          </a:p>
          <a:p>
            <a:pPr marL="152400" indent="-152400">
              <a:lnSpc>
                <a:spcPct val="105000"/>
              </a:lnSpc>
              <a:spcAft>
                <a:spcPts val="1400"/>
              </a:spcAft>
              <a:buSzPct val="100000"/>
              <a:buChar char="•"/>
            </a:pPr>
            <a:r>
              <a:rPr lang="en-US" sz="1500" dirty="0">
                <a:solidFill>
                  <a:srgbClr val="384050"/>
                </a:solidFill>
                <a:latin typeface="Calibri" pitchFamily="34" charset="0"/>
                <a:ea typeface="Calibri" pitchFamily="34" charset="-122"/>
                <a:cs typeface="Calibri" pitchFamily="34" charset="-120"/>
              </a:rPr>
              <a:t>Depuis la fiche : le formulaire de contact, puis sa confirmation</a:t>
            </a:r>
            <a:endParaRPr lang="en-US" sz="1500" dirty="0"/>
          </a:p>
          <a:p>
            <a:pPr marL="152400" indent="-152400">
              <a:lnSpc>
                <a:spcPct val="105000"/>
              </a:lnSpc>
              <a:spcAft>
                <a:spcPts val="1400"/>
              </a:spcAft>
              <a:buSzPct val="100000"/>
              <a:buChar char="•"/>
            </a:pPr>
            <a:r>
              <a:rPr lang="en-US" sz="1500" dirty="0">
                <a:solidFill>
                  <a:srgbClr val="384050"/>
                </a:solidFill>
                <a:latin typeface="Calibri" pitchFamily="34" charset="0"/>
                <a:ea typeface="Calibri" pitchFamily="34" charset="-122"/>
                <a:cs typeface="Calibri" pitchFamily="34" charset="-120"/>
              </a:rPr>
              <a:t>Toute URL inconnue mène à la page 404, qui ramène à l'accueil</a:t>
            </a:r>
            <a:endParaRPr lang="en-US" sz="1500" dirty="0"/>
          </a:p>
        </p:txBody>
      </p:sp>
      <p:pic>
        <p:nvPicPr>
          <p:cNvPr id="4" name="Image 0" descr="C:/Users/Sylvain/Desktop/CEF-F516414B/Devoir bilan - Créez le site Web Trouve ton artisan avec React.JS/trouve-ton-artisan/docs/captures/enchainement.png">    </p:cNvPr>
          <p:cNvPicPr>
            <a:picLocks noChangeAspect="1"/>
          </p:cNvPicPr>
          <p:nvPr/>
        </p:nvPicPr>
        <p:blipFill>
          <a:blip r:embed="rId1"/>
          <a:stretch>
            <a:fillRect/>
          </a:stretch>
        </p:blipFill>
        <p:spPr>
          <a:xfrm>
            <a:off x="7452360" y="1234440"/>
            <a:ext cx="3575304" cy="5029200"/>
          </a:xfrm>
          <a:prstGeom prst="rect">
            <a:avLst/>
          </a:prstGeom>
        </p:spPr>
      </p:pic>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Interfaces statiques et partie dynamique</a:t>
            </a:r>
            <a:endParaRPr lang="en-US" sz="3000" dirty="0"/>
          </a:p>
        </p:txBody>
      </p:sp>
      <p:sp>
        <p:nvSpPr>
          <p:cNvPr id="3" name="Text 1"/>
          <p:cNvSpPr/>
          <p:nvPr/>
        </p:nvSpPr>
        <p:spPr>
          <a:xfrm>
            <a:off x="731520" y="1234440"/>
            <a:ext cx="539496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Structure statique — React + Bootstrap</a:t>
            </a:r>
            <a:endParaRPr lang="en-US" sz="1700" dirty="0"/>
          </a:p>
        </p:txBody>
      </p:sp>
      <p:sp>
        <p:nvSpPr>
          <p:cNvPr id="4" name="Shape 2"/>
          <p:cNvSpPr/>
          <p:nvPr/>
        </p:nvSpPr>
        <p:spPr>
          <a:xfrm>
            <a:off x="731520" y="1691640"/>
            <a:ext cx="5394960" cy="2331720"/>
          </a:xfrm>
          <a:prstGeom prst="roundRect">
            <a:avLst>
              <a:gd name="adj" fmla="val 2353"/>
            </a:avLst>
          </a:prstGeom>
          <a:solidFill>
            <a:srgbClr val="2B333F"/>
          </a:solidFill>
          <a:ln w="12700">
            <a:solidFill>
              <a:srgbClr val="2B333F"/>
            </a:solidFill>
            <a:prstDash val="solid"/>
          </a:ln>
        </p:spPr>
      </p:sp>
      <p:sp>
        <p:nvSpPr>
          <p:cNvPr id="5" name="Text 3"/>
          <p:cNvSpPr/>
          <p:nvPr/>
        </p:nvSpPr>
        <p:spPr>
          <a:xfrm>
            <a:off x="896112" y="1801368"/>
            <a:ext cx="5065776" cy="2112264"/>
          </a:xfrm>
          <a:prstGeom prst="rect">
            <a:avLst/>
          </a:prstGeom>
          <a:noFill/>
          <a:ln/>
        </p:spPr>
        <p:txBody>
          <a:bodyPr wrap="square" lIns="0" tIns="0" rIns="0" bIns="0" rtlCol="0" anchor="t"/>
          <a:lstStyle/>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&lt;section className="hero"&gt;</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&lt;h1&gt;Trouvez l'artisan qu'il</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vous faut, près de chez vous.&lt;/h1&gt;</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&lt;p className="lead"&gt;Bâtiment, alimentation,</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services, fabrication.&lt;/p&gt;</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&lt;Link to="/artisans"</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className="btn btn-primary"&gt;</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Voir tous les artisans</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&lt;/Link&gt;</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&lt;/section&gt;</a:t>
            </a:r>
            <a:endParaRPr lang="en-US" sz="1050" dirty="0"/>
          </a:p>
        </p:txBody>
      </p:sp>
      <p:sp>
        <p:nvSpPr>
          <p:cNvPr id="6" name="Text 4"/>
          <p:cNvSpPr/>
          <p:nvPr/>
        </p:nvSpPr>
        <p:spPr>
          <a:xfrm>
            <a:off x="731520" y="4206240"/>
            <a:ext cx="5394960" cy="548640"/>
          </a:xfrm>
          <a:prstGeom prst="rect">
            <a:avLst/>
          </a:prstGeom>
          <a:noFill/>
          <a:ln/>
        </p:spPr>
        <p:txBody>
          <a:bodyPr wrap="square" lIns="0" tIns="0" rIns="0" bIns="0" rtlCol="0" anchor="ctr"/>
          <a:lstStyle/>
          <a:p>
            <a:pPr indent="0" marL="0">
              <a:buNone/>
            </a:pPr>
            <a:r>
              <a:rPr lang="en-US" sz="1250" dirty="0">
                <a:solidFill>
                  <a:srgbClr val="8A94A6"/>
                </a:solidFill>
                <a:latin typeface="Calibri" pitchFamily="34" charset="0"/>
                <a:ea typeface="Calibri" pitchFamily="34" charset="-122"/>
                <a:cs typeface="Calibri" pitchFamily="34" charset="-120"/>
              </a:rPr>
              <a:t>Balisage sémantique, composants réutilisables, classes Bootstrap.</a:t>
            </a:r>
            <a:endParaRPr lang="en-US" sz="1250" dirty="0"/>
          </a:p>
        </p:txBody>
      </p:sp>
      <p:sp>
        <p:nvSpPr>
          <p:cNvPr id="7" name="Text 5"/>
          <p:cNvSpPr/>
          <p:nvPr/>
        </p:nvSpPr>
        <p:spPr>
          <a:xfrm>
            <a:off x="6400800" y="1234440"/>
            <a:ext cx="521208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Partie dynamique — hooks React</a:t>
            </a:r>
            <a:endParaRPr lang="en-US" sz="1700" dirty="0"/>
          </a:p>
        </p:txBody>
      </p:sp>
      <p:sp>
        <p:nvSpPr>
          <p:cNvPr id="8" name="Shape 6"/>
          <p:cNvSpPr/>
          <p:nvPr/>
        </p:nvSpPr>
        <p:spPr>
          <a:xfrm>
            <a:off x="6400800" y="1691640"/>
            <a:ext cx="5212080" cy="2331720"/>
          </a:xfrm>
          <a:prstGeom prst="roundRect">
            <a:avLst>
              <a:gd name="adj" fmla="val 2353"/>
            </a:avLst>
          </a:prstGeom>
          <a:solidFill>
            <a:srgbClr val="2B333F"/>
          </a:solidFill>
          <a:ln w="12700">
            <a:solidFill>
              <a:srgbClr val="2B333F"/>
            </a:solidFill>
            <a:prstDash val="solid"/>
          </a:ln>
        </p:spPr>
      </p:sp>
      <p:sp>
        <p:nvSpPr>
          <p:cNvPr id="9" name="Text 7"/>
          <p:cNvSpPr/>
          <p:nvPr/>
        </p:nvSpPr>
        <p:spPr>
          <a:xfrm>
            <a:off x="6565392" y="1801368"/>
            <a:ext cx="4882896" cy="2112264"/>
          </a:xfrm>
          <a:prstGeom prst="rect">
            <a:avLst/>
          </a:prstGeom>
          <a:noFill/>
          <a:ln/>
        </p:spPr>
        <p:txBody>
          <a:bodyPr wrap="square" lIns="0" tIns="0" rIns="0" bIns="0" rtlCol="0" anchor="t"/>
          <a:lstStyle/>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useEffect(() =&gt; {</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setLoading(true);</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api.getArtisans({ category, q })</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.then((data) =&gt; setArtisans(data))</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.catch((err) =&gt; setError(err.message))</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.finally(() =&gt; setLoading(false));</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[category, q]);</a:t>
            </a:r>
            <a:endParaRPr lang="en-US" sz="1050" dirty="0"/>
          </a:p>
        </p:txBody>
      </p:sp>
      <p:sp>
        <p:nvSpPr>
          <p:cNvPr id="10" name="Text 8"/>
          <p:cNvSpPr/>
          <p:nvPr/>
        </p:nvSpPr>
        <p:spPr>
          <a:xfrm>
            <a:off x="6400800" y="4206240"/>
            <a:ext cx="5212080" cy="548640"/>
          </a:xfrm>
          <a:prstGeom prst="rect">
            <a:avLst/>
          </a:prstGeom>
          <a:noFill/>
          <a:ln/>
        </p:spPr>
        <p:txBody>
          <a:bodyPr wrap="square" lIns="0" tIns="0" rIns="0" bIns="0" rtlCol="0" anchor="ctr"/>
          <a:lstStyle/>
          <a:p>
            <a:pPr indent="0" marL="0">
              <a:buNone/>
            </a:pPr>
            <a:r>
              <a:rPr lang="en-US" sz="1250" dirty="0">
                <a:solidFill>
                  <a:srgbClr val="8A94A6"/>
                </a:solidFill>
                <a:latin typeface="Calibri" pitchFamily="34" charset="0"/>
                <a:ea typeface="Calibri" pitchFamily="34" charset="-122"/>
                <a:cs typeface="Calibri" pitchFamily="34" charset="-120"/>
              </a:rPr>
              <a:t>Rechargement automatique à chaque changement de filtre ; l'état gère l'attente, les données et les erreurs.</a:t>
            </a:r>
            <a:endParaRPr lang="en-US" sz="12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Accessibilité, référencement, éco-conception</a:t>
            </a:r>
            <a:endParaRPr lang="en-US" sz="3000" dirty="0"/>
          </a:p>
        </p:txBody>
      </p:sp>
      <p:sp>
        <p:nvSpPr>
          <p:cNvPr id="3" name="Shape 1"/>
          <p:cNvSpPr/>
          <p:nvPr/>
        </p:nvSpPr>
        <p:spPr>
          <a:xfrm>
            <a:off x="640080" y="1371600"/>
            <a:ext cx="3520440" cy="4206240"/>
          </a:xfrm>
          <a:prstGeom prst="roundRect">
            <a:avLst>
              <a:gd name="adj" fmla="val 2078"/>
            </a:avLst>
          </a:prstGeom>
          <a:solidFill>
            <a:srgbClr val="F1F8FC"/>
          </a:solidFill>
          <a:ln w="9525">
            <a:solidFill>
              <a:srgbClr val="D0D7DE"/>
            </a:solidFill>
            <a:prstDash val="solid"/>
          </a:ln>
        </p:spPr>
      </p:sp>
      <p:sp>
        <p:nvSpPr>
          <p:cNvPr id="4" name="Text 2"/>
          <p:cNvSpPr/>
          <p:nvPr/>
        </p:nvSpPr>
        <p:spPr>
          <a:xfrm>
            <a:off x="914400" y="1691640"/>
            <a:ext cx="301752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Accessibilité (WCAG 2.1 / RGAA)</a:t>
            </a:r>
            <a:endParaRPr lang="en-US" sz="1700" dirty="0"/>
          </a:p>
        </p:txBody>
      </p:sp>
      <p:sp>
        <p:nvSpPr>
          <p:cNvPr id="5" name="Text 3"/>
          <p:cNvSpPr/>
          <p:nvPr/>
        </p:nvSpPr>
        <p:spPr>
          <a:xfrm>
            <a:off x="914400" y="2423160"/>
            <a:ext cx="3017520" cy="292608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Navigation complète au clavier</a:t>
            </a:r>
            <a:endParaRPr lang="en-US" sz="1300" dirty="0"/>
          </a:p>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Lien d'évitement, focus visible</a:t>
            </a:r>
            <a:endParaRPr lang="en-US" sz="1300" dirty="0"/>
          </a:p>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Libellés et attributs ARIA</a:t>
            </a:r>
            <a:endParaRPr lang="en-US" sz="1300" dirty="0"/>
          </a:p>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Contrastes vérifiés (seuil AA)</a:t>
            </a:r>
            <a:endParaRPr lang="en-US" sz="1300" dirty="0"/>
          </a:p>
        </p:txBody>
      </p:sp>
      <p:sp>
        <p:nvSpPr>
          <p:cNvPr id="6" name="Shape 4"/>
          <p:cNvSpPr/>
          <p:nvPr/>
        </p:nvSpPr>
        <p:spPr>
          <a:xfrm>
            <a:off x="4389120" y="1371600"/>
            <a:ext cx="3520440" cy="4206240"/>
          </a:xfrm>
          <a:prstGeom prst="roundRect">
            <a:avLst>
              <a:gd name="adj" fmla="val 2078"/>
            </a:avLst>
          </a:prstGeom>
          <a:solidFill>
            <a:srgbClr val="F1F8FC"/>
          </a:solidFill>
          <a:ln w="9525">
            <a:solidFill>
              <a:srgbClr val="D0D7DE"/>
            </a:solidFill>
            <a:prstDash val="solid"/>
          </a:ln>
        </p:spPr>
      </p:sp>
      <p:sp>
        <p:nvSpPr>
          <p:cNvPr id="7" name="Text 5"/>
          <p:cNvSpPr/>
          <p:nvPr/>
        </p:nvSpPr>
        <p:spPr>
          <a:xfrm>
            <a:off x="4663440" y="1691640"/>
            <a:ext cx="301752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Référencement</a:t>
            </a:r>
            <a:endParaRPr lang="en-US" sz="1700" dirty="0"/>
          </a:p>
        </p:txBody>
      </p:sp>
      <p:sp>
        <p:nvSpPr>
          <p:cNvPr id="8" name="Text 6"/>
          <p:cNvSpPr/>
          <p:nvPr/>
        </p:nvSpPr>
        <p:spPr>
          <a:xfrm>
            <a:off x="4663440" y="2423160"/>
            <a:ext cx="3017520" cy="292608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Titre et méta-description par page</a:t>
            </a:r>
            <a:endParaRPr lang="en-US" sz="1300" dirty="0"/>
          </a:p>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Métadonnées natives de React 19</a:t>
            </a:r>
            <a:endParaRPr lang="en-US" sz="1300" dirty="0"/>
          </a:p>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URL propres et lisibles</a:t>
            </a:r>
            <a:endParaRPr lang="en-US" sz="1300" dirty="0"/>
          </a:p>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Sémantique HTML soignée</a:t>
            </a:r>
            <a:endParaRPr lang="en-US" sz="1300" dirty="0"/>
          </a:p>
        </p:txBody>
      </p:sp>
      <p:sp>
        <p:nvSpPr>
          <p:cNvPr id="9" name="Shape 7"/>
          <p:cNvSpPr/>
          <p:nvPr/>
        </p:nvSpPr>
        <p:spPr>
          <a:xfrm>
            <a:off x="8138160" y="1371600"/>
            <a:ext cx="3520440" cy="4206240"/>
          </a:xfrm>
          <a:prstGeom prst="roundRect">
            <a:avLst>
              <a:gd name="adj" fmla="val 2078"/>
            </a:avLst>
          </a:prstGeom>
          <a:solidFill>
            <a:srgbClr val="F1F8FC"/>
          </a:solidFill>
          <a:ln w="9525">
            <a:solidFill>
              <a:srgbClr val="D0D7DE"/>
            </a:solidFill>
            <a:prstDash val="solid"/>
          </a:ln>
        </p:spPr>
      </p:sp>
      <p:sp>
        <p:nvSpPr>
          <p:cNvPr id="10" name="Text 8"/>
          <p:cNvSpPr/>
          <p:nvPr/>
        </p:nvSpPr>
        <p:spPr>
          <a:xfrm>
            <a:off x="8412480" y="1691640"/>
            <a:ext cx="301752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Éco-conception</a:t>
            </a:r>
            <a:endParaRPr lang="en-US" sz="1700" dirty="0"/>
          </a:p>
        </p:txBody>
      </p:sp>
      <p:sp>
        <p:nvSpPr>
          <p:cNvPr id="11" name="Text 9"/>
          <p:cNvSpPr/>
          <p:nvPr/>
        </p:nvSpPr>
        <p:spPr>
          <a:xfrm>
            <a:off x="8412480" y="2423160"/>
            <a:ext cx="3017520" cy="292608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Images chargées en différé</a:t>
            </a:r>
            <a:endParaRPr lang="en-US" sz="1300" dirty="0"/>
          </a:p>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Polices auto-hébergées (woff2)</a:t>
            </a:r>
            <a:endParaRPr lang="en-US" sz="1300" dirty="0"/>
          </a:p>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API sans SELECT *, vue SQL</a:t>
            </a:r>
            <a:endParaRPr lang="en-US" sz="1300" dirty="0"/>
          </a:p>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Build minifié et compressé (Vite)</a:t>
            </a:r>
            <a:endParaRPr lang="en-US" sz="13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Base de données relationnelle — MCD</a:t>
            </a:r>
            <a:endParaRPr lang="en-US" sz="3000" dirty="0"/>
          </a:p>
        </p:txBody>
      </p:sp>
      <p:sp>
        <p:nvSpPr>
          <p:cNvPr id="3" name="Text 1"/>
          <p:cNvSpPr/>
          <p:nvPr/>
        </p:nvSpPr>
        <p:spPr>
          <a:xfrm>
            <a:off x="731520" y="2011680"/>
            <a:ext cx="6675120" cy="3108960"/>
          </a:xfrm>
          <a:prstGeom prst="rect">
            <a:avLst/>
          </a:prstGeom>
          <a:noFill/>
          <a:ln/>
        </p:spPr>
        <p:txBody>
          <a:bodyPr wrap="square" lIns="0" tIns="0" rIns="0" bIns="0" rtlCol="0" anchor="t"/>
          <a:lstStyle/>
          <a:p>
            <a:pPr marL="152400" indent="-152400">
              <a:lnSpc>
                <a:spcPct val="105000"/>
              </a:lnSpc>
              <a:spcAft>
                <a:spcPts val="1400"/>
              </a:spcAft>
              <a:buSzPct val="100000"/>
              <a:buChar char="•"/>
            </a:pPr>
            <a:r>
              <a:rPr lang="en-US" sz="1500" dirty="0">
                <a:solidFill>
                  <a:srgbClr val="384050"/>
                </a:solidFill>
                <a:latin typeface="Calibri" pitchFamily="34" charset="0"/>
                <a:ea typeface="Calibri" pitchFamily="34" charset="-122"/>
                <a:cs typeface="Calibri" pitchFamily="34" charset="-120"/>
              </a:rPr>
              <a:t>Cinq entités : catégorie, spécialité, ville, artisan, message de contact</a:t>
            </a:r>
            <a:endParaRPr lang="en-US" sz="1500" dirty="0"/>
          </a:p>
          <a:p>
            <a:pPr marL="152400" indent="-152400">
              <a:lnSpc>
                <a:spcPct val="105000"/>
              </a:lnSpc>
              <a:spcAft>
                <a:spcPts val="1400"/>
              </a:spcAft>
              <a:buSzPct val="100000"/>
              <a:buChar char="•"/>
            </a:pPr>
            <a:r>
              <a:rPr lang="en-US" sz="1500" dirty="0">
                <a:solidFill>
                  <a:srgbClr val="384050"/>
                </a:solidFill>
                <a:latin typeface="Calibri" pitchFamily="34" charset="0"/>
                <a:ea typeface="Calibri" pitchFamily="34" charset="-122"/>
                <a:cs typeface="Calibri" pitchFamily="34" charset="-120"/>
              </a:rPr>
              <a:t>Un artisan exerce une seule spécialité, rattachée à une seule catégorie</a:t>
            </a:r>
            <a:endParaRPr lang="en-US" sz="1500" dirty="0"/>
          </a:p>
          <a:p>
            <a:pPr marL="152400" indent="-152400">
              <a:lnSpc>
                <a:spcPct val="105000"/>
              </a:lnSpc>
              <a:spcAft>
                <a:spcPts val="1400"/>
              </a:spcAft>
              <a:buSzPct val="100000"/>
              <a:buChar char="•"/>
            </a:pPr>
            <a:r>
              <a:rPr lang="en-US" sz="1500" dirty="0">
                <a:solidFill>
                  <a:srgbClr val="384050"/>
                </a:solidFill>
                <a:latin typeface="Calibri" pitchFamily="34" charset="0"/>
                <a:ea typeface="Calibri" pitchFamily="34" charset="-122"/>
                <a:cs typeface="Calibri" pitchFamily="34" charset="-120"/>
              </a:rPr>
              <a:t>La ville est une entité à part entière (troisième forme normale)</a:t>
            </a:r>
            <a:endParaRPr lang="en-US" sz="1500" dirty="0"/>
          </a:p>
          <a:p>
            <a:pPr marL="152400" indent="-152400">
              <a:lnSpc>
                <a:spcPct val="105000"/>
              </a:lnSpc>
              <a:spcAft>
                <a:spcPts val="1400"/>
              </a:spcAft>
              <a:buSzPct val="100000"/>
              <a:buChar char="•"/>
            </a:pPr>
            <a:r>
              <a:rPr lang="en-US" sz="1500" dirty="0">
                <a:solidFill>
                  <a:srgbClr val="384050"/>
                </a:solidFill>
                <a:latin typeface="Calibri" pitchFamily="34" charset="0"/>
                <a:ea typeface="Calibri" pitchFamily="34" charset="-122"/>
                <a:cs typeface="Calibri" pitchFamily="34" charset="-120"/>
              </a:rPr>
              <a:t>Un artisan peut recevoir plusieurs messages de contact</a:t>
            </a:r>
            <a:endParaRPr lang="en-US" sz="1500" dirty="0"/>
          </a:p>
        </p:txBody>
      </p:sp>
      <p:pic>
        <p:nvPicPr>
          <p:cNvPr id="4" name="Image 0" descr="C:/Users/Sylvain/Desktop/CEF-F516414B/Devoir bilan - Créez le site Web Trouve ton artisan avec React.JS/trouve-ton-artisan/docs/captures/mcd.png">    </p:cNvPr>
          <p:cNvPicPr>
            <a:picLocks noChangeAspect="1"/>
          </p:cNvPicPr>
          <p:nvPr/>
        </p:nvPicPr>
        <p:blipFill>
          <a:blip r:embed="rId1"/>
          <a:stretch>
            <a:fillRect/>
          </a:stretch>
        </p:blipFill>
        <p:spPr>
          <a:xfrm>
            <a:off x="9052560" y="1188720"/>
            <a:ext cx="1965960" cy="5120640"/>
          </a:xfrm>
          <a:prstGeom prst="rect">
            <a:avLst/>
          </a:prstGeom>
        </p:spPr>
      </p:pic>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MLD et modèle physique</a:t>
            </a:r>
            <a:endParaRPr lang="en-US" sz="3000" dirty="0"/>
          </a:p>
        </p:txBody>
      </p:sp>
      <p:pic>
        <p:nvPicPr>
          <p:cNvPr id="3" name="Image 0" descr="C:/Users/Sylvain/Desktop/CEF-F516414B/Devoir bilan - Créez le site Web Trouve ton artisan avec React.JS/trouve-ton-artisan/docs/captures/mld.png">    </p:cNvPr>
          <p:cNvPicPr>
            <a:picLocks noChangeAspect="1"/>
          </p:cNvPicPr>
          <p:nvPr/>
        </p:nvPicPr>
        <p:blipFill>
          <a:blip r:embed="rId1"/>
          <a:stretch>
            <a:fillRect/>
          </a:stretch>
        </p:blipFill>
        <p:spPr>
          <a:xfrm>
            <a:off x="731520" y="1234440"/>
            <a:ext cx="3246120" cy="5029200"/>
          </a:xfrm>
          <a:prstGeom prst="rect">
            <a:avLst/>
          </a:prstGeom>
        </p:spPr>
      </p:pic>
      <p:sp>
        <p:nvSpPr>
          <p:cNvPr id="4" name="Text 1"/>
          <p:cNvSpPr/>
          <p:nvPr/>
        </p:nvSpPr>
        <p:spPr>
          <a:xfrm>
            <a:off x="5212080" y="1828800"/>
            <a:ext cx="6400800" cy="4023360"/>
          </a:xfrm>
          <a:prstGeom prst="rect">
            <a:avLst/>
          </a:prstGeom>
          <a:noFill/>
          <a:ln/>
        </p:spPr>
        <p:txBody>
          <a:bodyPr wrap="square" lIns="0" tIns="0" rIns="0" bIns="0" rtlCol="0" anchor="t"/>
          <a:lstStyle/>
          <a:p>
            <a:pPr marL="152400" indent="-152400">
              <a:lnSpc>
                <a:spcPct val="105000"/>
              </a:lnSpc>
              <a:spcAft>
                <a:spcPts val="1200"/>
              </a:spcAft>
              <a:buSzPct val="100000"/>
              <a:buChar char="•"/>
            </a:pPr>
            <a:r>
              <a:rPr lang="en-US" sz="1400" dirty="0">
                <a:solidFill>
                  <a:srgbClr val="384050"/>
                </a:solidFill>
                <a:latin typeface="Calibri" pitchFamily="34" charset="0"/>
                <a:ea typeface="Calibri" pitchFamily="34" charset="-122"/>
                <a:cs typeface="Calibri" pitchFamily="34" charset="-120"/>
              </a:rPr>
              <a:t>Trois premières formes normales respectées</a:t>
            </a:r>
            <a:endParaRPr lang="en-US" sz="1400" dirty="0"/>
          </a:p>
          <a:p>
            <a:pPr marL="152400" indent="-152400">
              <a:lnSpc>
                <a:spcPct val="105000"/>
              </a:lnSpc>
              <a:spcAft>
                <a:spcPts val="1200"/>
              </a:spcAft>
              <a:buSzPct val="100000"/>
              <a:buChar char="•"/>
            </a:pPr>
            <a:r>
              <a:rPr lang="en-US" sz="1400" dirty="0">
                <a:solidFill>
                  <a:srgbClr val="384050"/>
                </a:solidFill>
                <a:latin typeface="Calibri" pitchFamily="34" charset="0"/>
                <a:ea typeface="Calibri" pitchFamily="34" charset="-122"/>
                <a:cs typeface="Calibri" pitchFamily="34" charset="-120"/>
              </a:rPr>
              <a:t>Clés étrangères : RESTRICT sur les référentiels, CASCADE sur les messages</a:t>
            </a:r>
            <a:endParaRPr lang="en-US" sz="1400" dirty="0"/>
          </a:p>
          <a:p>
            <a:pPr marL="152400" indent="-152400">
              <a:lnSpc>
                <a:spcPct val="105000"/>
              </a:lnSpc>
              <a:spcAft>
                <a:spcPts val="1200"/>
              </a:spcAft>
              <a:buSzPct val="100000"/>
              <a:buChar char="•"/>
            </a:pPr>
            <a:r>
              <a:rPr lang="en-US" sz="1400" dirty="0">
                <a:solidFill>
                  <a:srgbClr val="384050"/>
                </a:solidFill>
                <a:latin typeface="Calibri" pitchFamily="34" charset="0"/>
                <a:ea typeface="Calibri" pitchFamily="34" charset="-122"/>
                <a:cs typeface="Calibri" pitchFamily="34" charset="-120"/>
              </a:rPr>
              <a:t>Contraintes CHECK : note entre 0 et 5, format d’e-mail</a:t>
            </a:r>
            <a:endParaRPr lang="en-US" sz="1400" dirty="0"/>
          </a:p>
          <a:p>
            <a:pPr marL="152400" indent="-152400">
              <a:lnSpc>
                <a:spcPct val="105000"/>
              </a:lnSpc>
              <a:spcAft>
                <a:spcPts val="1200"/>
              </a:spcAft>
              <a:buSzPct val="100000"/>
              <a:buChar char="•"/>
            </a:pPr>
            <a:r>
              <a:rPr lang="en-US" sz="1400" dirty="0">
                <a:solidFill>
                  <a:srgbClr val="384050"/>
                </a:solidFill>
                <a:latin typeface="Calibri" pitchFamily="34" charset="0"/>
                <a:ea typeface="Calibri" pitchFamily="34" charset="-122"/>
                <a:cs typeface="Calibri" pitchFamily="34" charset="-120"/>
              </a:rPr>
              <a:t>Index sur les clés étrangères et les colonnes recherchées</a:t>
            </a:r>
            <a:endParaRPr lang="en-US" sz="1400" dirty="0"/>
          </a:p>
          <a:p>
            <a:pPr marL="152400" indent="-152400">
              <a:lnSpc>
                <a:spcPct val="105000"/>
              </a:lnSpc>
              <a:spcAft>
                <a:spcPts val="1200"/>
              </a:spcAft>
              <a:buSzPct val="100000"/>
              <a:buChar char="•"/>
            </a:pPr>
            <a:r>
              <a:rPr lang="en-US" sz="1400" dirty="0">
                <a:solidFill>
                  <a:srgbClr val="384050"/>
                </a:solidFill>
                <a:latin typeface="Calibri" pitchFamily="34" charset="0"/>
                <a:ea typeface="Calibri" pitchFamily="34" charset="-122"/>
                <a:cs typeface="Calibri" pitchFamily="34" charset="-120"/>
              </a:rPr>
              <a:t>Vue v_artisans_full : jointures pré-assemblées pour la lecture</a:t>
            </a:r>
            <a:endParaRPr lang="en-US" sz="1400" dirty="0"/>
          </a:p>
          <a:p>
            <a:pPr marL="152400" indent="-152400">
              <a:lnSpc>
                <a:spcPct val="105000"/>
              </a:lnSpc>
              <a:spcAft>
                <a:spcPts val="1200"/>
              </a:spcAft>
              <a:buSzPct val="100000"/>
              <a:buChar char="•"/>
            </a:pPr>
            <a:r>
              <a:rPr lang="en-US" sz="1400" dirty="0">
                <a:solidFill>
                  <a:srgbClr val="384050"/>
                </a:solidFill>
                <a:latin typeface="Calibri" pitchFamily="34" charset="0"/>
                <a:ea typeface="Calibri" pitchFamily="34" charset="-122"/>
                <a:cs typeface="Calibri" pitchFamily="34" charset="-120"/>
              </a:rPr>
              <a:t>Scripts : database/01_schema.sql (création) et 02_seed.sql (données)</a:t>
            </a:r>
            <a:endParaRPr lang="en-US" sz="14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NoSQL — les avis clients (MongoDB)</a:t>
            </a:r>
            <a:endParaRPr lang="en-US" sz="3000" dirty="0"/>
          </a:p>
        </p:txBody>
      </p:sp>
      <p:sp>
        <p:nvSpPr>
          <p:cNvPr id="3" name="Text 1"/>
          <p:cNvSpPr/>
          <p:nvPr/>
        </p:nvSpPr>
        <p:spPr>
          <a:xfrm>
            <a:off x="731520" y="1234440"/>
            <a:ext cx="539496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Pourquoi une base documentaire ?</a:t>
            </a:r>
            <a:endParaRPr lang="en-US" sz="1700" dirty="0"/>
          </a:p>
        </p:txBody>
      </p:sp>
      <p:sp>
        <p:nvSpPr>
          <p:cNvPr id="4" name="Text 2"/>
          <p:cNvSpPr/>
          <p:nvPr/>
        </p:nvSpPr>
        <p:spPr>
          <a:xfrm>
            <a:off x="731520" y="1783080"/>
            <a:ext cx="5394960" cy="3566160"/>
          </a:xfrm>
          <a:prstGeom prst="rect">
            <a:avLst/>
          </a:prstGeom>
          <a:noFill/>
          <a:ln/>
        </p:spPr>
        <p:txBody>
          <a:bodyPr wrap="square" lIns="0" tIns="0" rIns="0" bIns="0" rtlCol="0" anchor="t"/>
          <a:lstStyle/>
          <a:p>
            <a:pPr marL="152400" indent="-152400">
              <a:lnSpc>
                <a:spcPct val="105000"/>
              </a:lnSpc>
              <a:spcAft>
                <a:spcPts val="1100"/>
              </a:spcAft>
              <a:buSzPct val="100000"/>
              <a:buChar char="•"/>
            </a:pPr>
            <a:r>
              <a:rPr lang="en-US" sz="1350" dirty="0">
                <a:solidFill>
                  <a:srgbClr val="384050"/>
                </a:solidFill>
                <a:latin typeface="Calibri" pitchFamily="34" charset="0"/>
                <a:ea typeface="Calibri" pitchFamily="34" charset="-122"/>
                <a:cs typeface="Calibri" pitchFamily="34" charset="-120"/>
              </a:rPr>
              <a:t>Schéma souple : une réponse de l'artisan peut s'imbriquer dans l'avis</a:t>
            </a:r>
            <a:endParaRPr lang="en-US" sz="1350" dirty="0"/>
          </a:p>
          <a:p>
            <a:pPr marL="152400" indent="-152400">
              <a:lnSpc>
                <a:spcPct val="105000"/>
              </a:lnSpc>
              <a:spcAft>
                <a:spcPts val="1100"/>
              </a:spcAft>
              <a:buSzPct val="100000"/>
              <a:buChar char="•"/>
            </a:pPr>
            <a:r>
              <a:rPr lang="en-US" sz="1350" dirty="0">
                <a:solidFill>
                  <a:srgbClr val="384050"/>
                </a:solidFill>
                <a:latin typeface="Calibri" pitchFamily="34" charset="0"/>
                <a:ea typeface="Calibri" pitchFamily="34" charset="-122"/>
                <a:cs typeface="Calibri" pitchFamily="34" charset="-120"/>
              </a:rPr>
              <a:t>Lecture par artisan, sans jointure</a:t>
            </a:r>
            <a:endParaRPr lang="en-US" sz="1350" dirty="0"/>
          </a:p>
          <a:p>
            <a:pPr marL="152400" indent="-152400">
              <a:lnSpc>
                <a:spcPct val="105000"/>
              </a:lnSpc>
              <a:spcAft>
                <a:spcPts val="1100"/>
              </a:spcAft>
              <a:buSzPct val="100000"/>
              <a:buChar char="•"/>
            </a:pPr>
            <a:r>
              <a:rPr lang="en-US" sz="1350" dirty="0">
                <a:solidFill>
                  <a:srgbClr val="384050"/>
                </a:solidFill>
                <a:latin typeface="Calibri" pitchFamily="34" charset="0"/>
                <a:ea typeface="Calibri" pitchFamily="34" charset="-122"/>
                <a:cs typeface="Calibri" pitchFamily="34" charset="-120"/>
              </a:rPr>
              <a:t>Volume amené à grandir</a:t>
            </a:r>
            <a:endParaRPr lang="en-US" sz="1350" dirty="0"/>
          </a:p>
          <a:p>
            <a:pPr marL="152400" indent="-152400">
              <a:lnSpc>
                <a:spcPct val="105000"/>
              </a:lnSpc>
              <a:spcAft>
                <a:spcPts val="1100"/>
              </a:spcAft>
              <a:buSzPct val="100000"/>
              <a:buChar char="•"/>
            </a:pPr>
            <a:r>
              <a:rPr lang="en-US" sz="1350" dirty="0">
                <a:solidFill>
                  <a:srgbClr val="384050"/>
                </a:solidFill>
                <a:latin typeface="Calibri" pitchFamily="34" charset="0"/>
                <a:ea typeface="Calibri" pitchFamily="34" charset="-122"/>
                <a:cs typeface="Calibri" pitchFamily="34" charset="-120"/>
              </a:rPr>
              <a:t>L'artisan reste en SQL, ses avis en NoSQL — lien par identifiant</a:t>
            </a:r>
            <a:endParaRPr lang="en-US" sz="1350" dirty="0"/>
          </a:p>
          <a:p>
            <a:pPr marL="152400" indent="-152400">
              <a:lnSpc>
                <a:spcPct val="105000"/>
              </a:lnSpc>
              <a:spcAft>
                <a:spcPts val="1100"/>
              </a:spcAft>
              <a:buSzPct val="100000"/>
              <a:buChar char="•"/>
            </a:pPr>
            <a:r>
              <a:rPr lang="en-US" sz="1350" dirty="0">
                <a:solidFill>
                  <a:srgbClr val="384050"/>
                </a:solidFill>
                <a:latin typeface="Calibri" pitchFamily="34" charset="0"/>
                <a:ea typeface="Calibri" pitchFamily="34" charset="-122"/>
                <a:cs typeface="Calibri" pitchFamily="34" charset="-120"/>
              </a:rPr>
              <a:t>MongoDB indisponible → l'API SQL continue, les avis répondent 503</a:t>
            </a:r>
            <a:endParaRPr lang="en-US" sz="1350" dirty="0"/>
          </a:p>
        </p:txBody>
      </p:sp>
      <p:sp>
        <p:nvSpPr>
          <p:cNvPr id="5" name="Text 3"/>
          <p:cNvSpPr/>
          <p:nvPr/>
        </p:nvSpPr>
        <p:spPr>
          <a:xfrm>
            <a:off x="6400800" y="1234440"/>
            <a:ext cx="521208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Schéma Mongoose (extrait)</a:t>
            </a:r>
            <a:endParaRPr lang="en-US" sz="1700" dirty="0"/>
          </a:p>
        </p:txBody>
      </p:sp>
      <p:sp>
        <p:nvSpPr>
          <p:cNvPr id="6" name="Shape 4"/>
          <p:cNvSpPr/>
          <p:nvPr/>
        </p:nvSpPr>
        <p:spPr>
          <a:xfrm>
            <a:off x="6400800" y="1691640"/>
            <a:ext cx="5212080" cy="2148840"/>
          </a:xfrm>
          <a:prstGeom prst="roundRect">
            <a:avLst>
              <a:gd name="adj" fmla="val 2553"/>
            </a:avLst>
          </a:prstGeom>
          <a:solidFill>
            <a:srgbClr val="2B333F"/>
          </a:solidFill>
          <a:ln w="12700">
            <a:solidFill>
              <a:srgbClr val="2B333F"/>
            </a:solidFill>
            <a:prstDash val="solid"/>
          </a:ln>
        </p:spPr>
      </p:sp>
      <p:sp>
        <p:nvSpPr>
          <p:cNvPr id="7" name="Text 5"/>
          <p:cNvSpPr/>
          <p:nvPr/>
        </p:nvSpPr>
        <p:spPr>
          <a:xfrm>
            <a:off x="6565392" y="1801368"/>
            <a:ext cx="4882896" cy="1929384"/>
          </a:xfrm>
          <a:prstGeom prst="rect">
            <a:avLst/>
          </a:prstGeom>
          <a:noFill/>
          <a:ln/>
        </p:spPr>
        <p:txBody>
          <a:bodyPr wrap="square" lIns="0" tIns="0" rIns="0" bIns="0" rtlCol="0" anchor="t"/>
          <a:lstStyle/>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const reviewSchema = new mongoose.Schema({</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artisanId:  { type: Number,</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required: true, index: true },</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authorName: { type: String, minlength: 2 },</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rating:     { type: Number, min: 1, max: 5 },</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comment:    { type: String, maxlength: 2000 },</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reply: { message: String, repliedAt: Date },</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 timestamps: true });</a:t>
            </a:r>
            <a:endParaRPr lang="en-US" sz="1050" dirty="0"/>
          </a:p>
        </p:txBody>
      </p:sp>
      <p:sp>
        <p:nvSpPr>
          <p:cNvPr id="8" name="Text 6"/>
          <p:cNvSpPr/>
          <p:nvPr/>
        </p:nvSpPr>
        <p:spPr>
          <a:xfrm>
            <a:off x="6400800" y="4023360"/>
            <a:ext cx="5212080" cy="548640"/>
          </a:xfrm>
          <a:prstGeom prst="rect">
            <a:avLst/>
          </a:prstGeom>
          <a:noFill/>
          <a:ln/>
        </p:spPr>
        <p:txBody>
          <a:bodyPr wrap="square" lIns="0" tIns="0" rIns="0" bIns="0" rtlCol="0" anchor="ctr"/>
          <a:lstStyle/>
          <a:p>
            <a:pPr indent="0" marL="0">
              <a:buNone/>
            </a:pPr>
            <a:r>
              <a:rPr lang="en-US" sz="1250" dirty="0">
                <a:solidFill>
                  <a:srgbClr val="8A94A6"/>
                </a:solidFill>
                <a:latin typeface="Calibri" pitchFamily="34" charset="0"/>
                <a:ea typeface="Calibri" pitchFamily="34" charset="-122"/>
                <a:cs typeface="Calibri" pitchFamily="34" charset="-120"/>
              </a:rPr>
              <a:t>Le modèle valide les écritures (types, bornes) et crée l’index sur artisanId.</a:t>
            </a:r>
            <a:endParaRPr lang="en-US" sz="12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Composants serveur</a:t>
            </a:r>
            <a:endParaRPr lang="en-US" sz="3000" dirty="0"/>
          </a:p>
        </p:txBody>
      </p:sp>
      <p:sp>
        <p:nvSpPr>
          <p:cNvPr id="3" name="Shape 1"/>
          <p:cNvSpPr/>
          <p:nvPr/>
        </p:nvSpPr>
        <p:spPr>
          <a:xfrm>
            <a:off x="822960" y="1325880"/>
            <a:ext cx="2286000" cy="566928"/>
          </a:xfrm>
          <a:prstGeom prst="roundRect">
            <a:avLst>
              <a:gd name="adj" fmla="val 14516"/>
            </a:avLst>
          </a:prstGeom>
          <a:solidFill>
            <a:srgbClr val="0074C7"/>
          </a:solidFill>
          <a:ln w="12700">
            <a:solidFill>
              <a:srgbClr val="0074C7"/>
            </a:solidFill>
            <a:prstDash val="solid"/>
          </a:ln>
        </p:spPr>
      </p:sp>
      <p:sp>
        <p:nvSpPr>
          <p:cNvPr id="4" name="Text 2"/>
          <p:cNvSpPr/>
          <p:nvPr/>
        </p:nvSpPr>
        <p:spPr>
          <a:xfrm>
            <a:off x="822960" y="1325880"/>
            <a:ext cx="228600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Routes</a:t>
            </a:r>
            <a:endParaRPr lang="en-US" sz="1500" dirty="0"/>
          </a:p>
        </p:txBody>
      </p:sp>
      <p:sp>
        <p:nvSpPr>
          <p:cNvPr id="5" name="Text 3"/>
          <p:cNvSpPr/>
          <p:nvPr/>
        </p:nvSpPr>
        <p:spPr>
          <a:xfrm>
            <a:off x="3127248" y="1325880"/>
            <a:ext cx="502920" cy="566928"/>
          </a:xfrm>
          <a:prstGeom prst="rect">
            <a:avLst/>
          </a:prstGeom>
          <a:noFill/>
          <a:ln/>
        </p:spPr>
        <p:txBody>
          <a:bodyPr wrap="square" lIns="0" tIns="0" rIns="0" bIns="0" rtlCol="0" anchor="ctr"/>
          <a:lstStyle/>
          <a:p>
            <a:pPr algn="ctr" indent="0" marL="0">
              <a:buNone/>
            </a:pPr>
            <a:r>
              <a:rPr lang="en-US" sz="2000" b="1" dirty="0">
                <a:solidFill>
                  <a:srgbClr val="8A94A6"/>
                </a:solidFill>
                <a:latin typeface="Calibri" pitchFamily="34" charset="0"/>
                <a:ea typeface="Calibri" pitchFamily="34" charset="-122"/>
                <a:cs typeface="Calibri" pitchFamily="34" charset="-120"/>
              </a:rPr>
              <a:t>→</a:t>
            </a:r>
            <a:endParaRPr lang="en-US" sz="2000" dirty="0"/>
          </a:p>
        </p:txBody>
      </p:sp>
      <p:sp>
        <p:nvSpPr>
          <p:cNvPr id="6" name="Shape 4"/>
          <p:cNvSpPr/>
          <p:nvPr/>
        </p:nvSpPr>
        <p:spPr>
          <a:xfrm>
            <a:off x="3657600" y="1325880"/>
            <a:ext cx="2286000" cy="566928"/>
          </a:xfrm>
          <a:prstGeom prst="roundRect">
            <a:avLst>
              <a:gd name="adj" fmla="val 14516"/>
            </a:avLst>
          </a:prstGeom>
          <a:solidFill>
            <a:srgbClr val="0074C7"/>
          </a:solidFill>
          <a:ln w="12700">
            <a:solidFill>
              <a:srgbClr val="0074C7"/>
            </a:solidFill>
            <a:prstDash val="solid"/>
          </a:ln>
        </p:spPr>
      </p:sp>
      <p:sp>
        <p:nvSpPr>
          <p:cNvPr id="7" name="Text 5"/>
          <p:cNvSpPr/>
          <p:nvPr/>
        </p:nvSpPr>
        <p:spPr>
          <a:xfrm>
            <a:off x="3657600" y="1325880"/>
            <a:ext cx="228600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Contrôleurs</a:t>
            </a:r>
            <a:endParaRPr lang="en-US" sz="1500" dirty="0"/>
          </a:p>
        </p:txBody>
      </p:sp>
      <p:sp>
        <p:nvSpPr>
          <p:cNvPr id="8" name="Text 6"/>
          <p:cNvSpPr/>
          <p:nvPr/>
        </p:nvSpPr>
        <p:spPr>
          <a:xfrm>
            <a:off x="5961888" y="1325880"/>
            <a:ext cx="502920" cy="566928"/>
          </a:xfrm>
          <a:prstGeom prst="rect">
            <a:avLst/>
          </a:prstGeom>
          <a:noFill/>
          <a:ln/>
        </p:spPr>
        <p:txBody>
          <a:bodyPr wrap="square" lIns="0" tIns="0" rIns="0" bIns="0" rtlCol="0" anchor="ctr"/>
          <a:lstStyle/>
          <a:p>
            <a:pPr algn="ctr" indent="0" marL="0">
              <a:buNone/>
            </a:pPr>
            <a:r>
              <a:rPr lang="en-US" sz="2000" b="1" dirty="0">
                <a:solidFill>
                  <a:srgbClr val="8A94A6"/>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6492240" y="1325880"/>
            <a:ext cx="2286000" cy="566928"/>
          </a:xfrm>
          <a:prstGeom prst="roundRect">
            <a:avLst>
              <a:gd name="adj" fmla="val 14516"/>
            </a:avLst>
          </a:prstGeom>
          <a:solidFill>
            <a:srgbClr val="0074C7"/>
          </a:solidFill>
          <a:ln w="12700">
            <a:solidFill>
              <a:srgbClr val="0074C7"/>
            </a:solidFill>
            <a:prstDash val="solid"/>
          </a:ln>
        </p:spPr>
      </p:sp>
      <p:sp>
        <p:nvSpPr>
          <p:cNvPr id="10" name="Text 8"/>
          <p:cNvSpPr/>
          <p:nvPr/>
        </p:nvSpPr>
        <p:spPr>
          <a:xfrm>
            <a:off x="6492240" y="1325880"/>
            <a:ext cx="228600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Services</a:t>
            </a:r>
            <a:endParaRPr lang="en-US" sz="1500" dirty="0"/>
          </a:p>
        </p:txBody>
      </p:sp>
      <p:sp>
        <p:nvSpPr>
          <p:cNvPr id="11" name="Text 9"/>
          <p:cNvSpPr/>
          <p:nvPr/>
        </p:nvSpPr>
        <p:spPr>
          <a:xfrm>
            <a:off x="8796528" y="1325880"/>
            <a:ext cx="502920" cy="566928"/>
          </a:xfrm>
          <a:prstGeom prst="rect">
            <a:avLst/>
          </a:prstGeom>
          <a:noFill/>
          <a:ln/>
        </p:spPr>
        <p:txBody>
          <a:bodyPr wrap="square" lIns="0" tIns="0" rIns="0" bIns="0" rtlCol="0" anchor="ctr"/>
          <a:lstStyle/>
          <a:p>
            <a:pPr algn="ctr" indent="0" marL="0">
              <a:buNone/>
            </a:pPr>
            <a:r>
              <a:rPr lang="en-US" sz="2000" b="1" dirty="0">
                <a:solidFill>
                  <a:srgbClr val="8A94A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9326880" y="1325880"/>
            <a:ext cx="2286000" cy="566928"/>
          </a:xfrm>
          <a:prstGeom prst="roundRect">
            <a:avLst>
              <a:gd name="adj" fmla="val 14516"/>
            </a:avLst>
          </a:prstGeom>
          <a:solidFill>
            <a:srgbClr val="0074C7"/>
          </a:solidFill>
          <a:ln w="12700">
            <a:solidFill>
              <a:srgbClr val="0074C7"/>
            </a:solidFill>
            <a:prstDash val="solid"/>
          </a:ln>
        </p:spPr>
      </p:sp>
      <p:sp>
        <p:nvSpPr>
          <p:cNvPr id="13" name="Text 11"/>
          <p:cNvSpPr/>
          <p:nvPr/>
        </p:nvSpPr>
        <p:spPr>
          <a:xfrm>
            <a:off x="9326880" y="1325880"/>
            <a:ext cx="228600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Modèles</a:t>
            </a:r>
            <a:endParaRPr lang="en-US" sz="1500" dirty="0"/>
          </a:p>
        </p:txBody>
      </p:sp>
      <p:sp>
        <p:nvSpPr>
          <p:cNvPr id="14" name="Text 12"/>
          <p:cNvSpPr/>
          <p:nvPr/>
        </p:nvSpPr>
        <p:spPr>
          <a:xfrm>
            <a:off x="822960" y="2377440"/>
            <a:ext cx="5120640" cy="2377440"/>
          </a:xfrm>
          <a:prstGeom prst="rect">
            <a:avLst/>
          </a:prstGeom>
          <a:noFill/>
          <a:ln/>
        </p:spPr>
        <p:txBody>
          <a:bodyPr wrap="square" lIns="0" tIns="0" rIns="0" bIns="0" rtlCol="0" anchor="t"/>
          <a:lstStyle/>
          <a:p>
            <a:pPr marL="152400" indent="-152400">
              <a:lnSpc>
                <a:spcPct val="105000"/>
              </a:lnSpc>
              <a:spcAft>
                <a:spcPts val="1100"/>
              </a:spcAft>
              <a:buSzPct val="100000"/>
              <a:buChar char="•"/>
            </a:pPr>
            <a:r>
              <a:rPr lang="en-US" sz="1350" dirty="0">
                <a:solidFill>
                  <a:srgbClr val="384050"/>
                </a:solidFill>
                <a:latin typeface="Calibri" pitchFamily="34" charset="0"/>
                <a:ea typeface="Calibri" pitchFamily="34" charset="-122"/>
                <a:cs typeface="Calibri" pitchFamily="34" charset="-120"/>
              </a:rPr>
              <a:t>La logique métier vit dans les services, jamais dans les contrôleurs</a:t>
            </a:r>
            <a:endParaRPr lang="en-US" sz="1350" dirty="0"/>
          </a:p>
          <a:p>
            <a:pPr marL="152400" indent="-152400">
              <a:lnSpc>
                <a:spcPct val="105000"/>
              </a:lnSpc>
              <a:spcAft>
                <a:spcPts val="1100"/>
              </a:spcAft>
              <a:buSzPct val="100000"/>
              <a:buChar char="•"/>
            </a:pPr>
            <a:r>
              <a:rPr lang="en-US" sz="1350" dirty="0">
                <a:solidFill>
                  <a:srgbClr val="384050"/>
                </a:solidFill>
                <a:latin typeface="Calibri" pitchFamily="34" charset="0"/>
                <a:ea typeface="Calibri" pitchFamily="34" charset="-122"/>
                <a:cs typeface="Calibri" pitchFamily="34" charset="-120"/>
              </a:rPr>
              <a:t>Validation systématique des entrées (express-validator)</a:t>
            </a:r>
            <a:endParaRPr lang="en-US" sz="1350" dirty="0"/>
          </a:p>
          <a:p>
            <a:pPr marL="152400" indent="-152400">
              <a:lnSpc>
                <a:spcPct val="105000"/>
              </a:lnSpc>
              <a:spcAft>
                <a:spcPts val="1100"/>
              </a:spcAft>
              <a:buSzPct val="100000"/>
              <a:buChar char="•"/>
            </a:pPr>
            <a:r>
              <a:rPr lang="en-US" sz="1350" dirty="0">
                <a:solidFill>
                  <a:srgbClr val="384050"/>
                </a:solidFill>
                <a:latin typeface="Calibri" pitchFamily="34" charset="0"/>
                <a:ea typeface="Calibri" pitchFamily="34" charset="-122"/>
                <a:cs typeface="Calibri" pitchFamily="34" charset="-120"/>
              </a:rPr>
              <a:t>Gestion centralisée des erreurs, réponses neutres en production</a:t>
            </a:r>
            <a:endParaRPr lang="en-US" sz="1350" dirty="0"/>
          </a:p>
        </p:txBody>
      </p:sp>
      <p:sp>
        <p:nvSpPr>
          <p:cNvPr id="15" name="Text 13"/>
          <p:cNvSpPr/>
          <p:nvPr/>
        </p:nvSpPr>
        <p:spPr>
          <a:xfrm>
            <a:off x="6400800" y="2240280"/>
            <a:ext cx="521208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Un avis = les deux bases qui coopèrent</a:t>
            </a:r>
            <a:endParaRPr lang="en-US" sz="1700" dirty="0"/>
          </a:p>
        </p:txBody>
      </p:sp>
      <p:sp>
        <p:nvSpPr>
          <p:cNvPr id="16" name="Shape 14"/>
          <p:cNvSpPr/>
          <p:nvPr/>
        </p:nvSpPr>
        <p:spPr>
          <a:xfrm>
            <a:off x="6400800" y="2697480"/>
            <a:ext cx="5212080" cy="2377440"/>
          </a:xfrm>
          <a:prstGeom prst="roundRect">
            <a:avLst>
              <a:gd name="adj" fmla="val 2308"/>
            </a:avLst>
          </a:prstGeom>
          <a:solidFill>
            <a:srgbClr val="2B333F"/>
          </a:solidFill>
          <a:ln w="12700">
            <a:solidFill>
              <a:srgbClr val="2B333F"/>
            </a:solidFill>
            <a:prstDash val="solid"/>
          </a:ln>
        </p:spPr>
      </p:sp>
      <p:sp>
        <p:nvSpPr>
          <p:cNvPr id="17" name="Text 15"/>
          <p:cNvSpPr/>
          <p:nvPr/>
        </p:nvSpPr>
        <p:spPr>
          <a:xfrm>
            <a:off x="6565392" y="2807208"/>
            <a:ext cx="4882896" cy="2157984"/>
          </a:xfrm>
          <a:prstGeom prst="rect">
            <a:avLst/>
          </a:prstGeom>
          <a:noFill/>
          <a:ln/>
        </p:spPr>
        <p:txBody>
          <a:bodyPr wrap="square" lIns="0" tIns="0" rIns="0" bIns="0" rtlCol="0" anchor="t"/>
          <a:lstStyle/>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async function createReview(artisanId, data) {</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const artisan =</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await Artisan.findByPk(artisanId); // SQL</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if (!artisan) return { notFound: true };</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const review =</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await Review.create({ artisanId,</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...data }); // NoSQL</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  return { review };</a:t>
            </a:r>
            <a:endParaRPr lang="en-US" sz="1050" dirty="0"/>
          </a:p>
          <a:p>
            <a:pPr indent="0" marL="0">
              <a:lnSpc>
                <a:spcPct val="104000"/>
              </a:lnSpc>
              <a:buNone/>
            </a:pPr>
            <a:r>
              <a:rPr lang="en-US" sz="1050" dirty="0">
                <a:solidFill>
                  <a:srgbClr val="EAF2F8"/>
                </a:solidFill>
                <a:latin typeface="Courier New" pitchFamily="34" charset="0"/>
                <a:ea typeface="Courier New" pitchFamily="34" charset="-122"/>
                <a:cs typeface="Courier New" pitchFamily="34" charset="-120"/>
              </a:rPr>
              <a:t>}</a:t>
            </a:r>
            <a:endParaRPr lang="en-US" sz="10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Sécurité</a:t>
            </a:r>
            <a:endParaRPr lang="en-US" sz="3000" dirty="0"/>
          </a:p>
        </p:txBody>
      </p:sp>
      <p:sp>
        <p:nvSpPr>
          <p:cNvPr id="3" name="Shape 1"/>
          <p:cNvSpPr/>
          <p:nvPr/>
        </p:nvSpPr>
        <p:spPr>
          <a:xfrm>
            <a:off x="640080" y="1463040"/>
            <a:ext cx="2606040" cy="1874520"/>
          </a:xfrm>
          <a:prstGeom prst="roundRect">
            <a:avLst>
              <a:gd name="adj" fmla="val 3902"/>
            </a:avLst>
          </a:prstGeom>
          <a:solidFill>
            <a:srgbClr val="F1F8FC"/>
          </a:solidFill>
          <a:ln w="9525">
            <a:solidFill>
              <a:srgbClr val="D0D7DE"/>
            </a:solidFill>
            <a:prstDash val="solid"/>
          </a:ln>
        </p:spPr>
      </p:sp>
      <p:sp>
        <p:nvSpPr>
          <p:cNvPr id="4" name="Text 2"/>
          <p:cNvSpPr/>
          <p:nvPr/>
        </p:nvSpPr>
        <p:spPr>
          <a:xfrm>
            <a:off x="841248" y="1664208"/>
            <a:ext cx="2194560" cy="457200"/>
          </a:xfrm>
          <a:prstGeom prst="rect">
            <a:avLst/>
          </a:prstGeom>
          <a:noFill/>
          <a:ln/>
        </p:spPr>
        <p:txBody>
          <a:bodyPr wrap="square" lIns="0" tIns="0" rIns="0" bIns="0" rtlCol="0" anchor="ctr"/>
          <a:lstStyle/>
          <a:p>
            <a:pPr indent="0" marL="0">
              <a:buNone/>
            </a:pPr>
            <a:r>
              <a:rPr lang="en-US" sz="1450" b="1" dirty="0">
                <a:solidFill>
                  <a:srgbClr val="00497C"/>
                </a:solidFill>
                <a:latin typeface="Calibri" pitchFamily="34" charset="0"/>
                <a:ea typeface="Calibri" pitchFamily="34" charset="-122"/>
                <a:cs typeface="Calibri" pitchFamily="34" charset="-120"/>
              </a:rPr>
              <a:t>Clé d’API</a:t>
            </a:r>
            <a:endParaRPr lang="en-US" sz="1450" dirty="0"/>
          </a:p>
        </p:txBody>
      </p:sp>
      <p:sp>
        <p:nvSpPr>
          <p:cNvPr id="5" name="Text 3"/>
          <p:cNvSpPr/>
          <p:nvPr/>
        </p:nvSpPr>
        <p:spPr>
          <a:xfrm>
            <a:off x="841248" y="2148840"/>
            <a:ext cx="2194560" cy="1051560"/>
          </a:xfrm>
          <a:prstGeom prst="rect">
            <a:avLst/>
          </a:prstGeom>
          <a:noFill/>
          <a:ln/>
        </p:spPr>
        <p:txBody>
          <a:bodyPr wrap="square" lIns="0" tIns="0" rIns="0" bIns="0" rtlCol="0" anchor="t"/>
          <a:lstStyle/>
          <a:p>
            <a:pPr indent="0" marL="0">
              <a:buNone/>
            </a:pPr>
            <a:r>
              <a:rPr lang="en-US" sz="1200" dirty="0">
                <a:solidFill>
                  <a:srgbClr val="384050"/>
                </a:solidFill>
                <a:latin typeface="Calibri" pitchFamily="34" charset="0"/>
                <a:ea typeface="Calibri" pitchFamily="34" charset="-122"/>
                <a:cs typeface="Calibri" pitchFamily="34" charset="-120"/>
              </a:rPr>
              <a:t>Obligatoire, comparée à temps constant</a:t>
            </a:r>
            <a:endParaRPr lang="en-US" sz="1200" dirty="0"/>
          </a:p>
        </p:txBody>
      </p:sp>
      <p:sp>
        <p:nvSpPr>
          <p:cNvPr id="6" name="Shape 4"/>
          <p:cNvSpPr/>
          <p:nvPr/>
        </p:nvSpPr>
        <p:spPr>
          <a:xfrm>
            <a:off x="3474720" y="1463040"/>
            <a:ext cx="2606040" cy="1874520"/>
          </a:xfrm>
          <a:prstGeom prst="roundRect">
            <a:avLst>
              <a:gd name="adj" fmla="val 3902"/>
            </a:avLst>
          </a:prstGeom>
          <a:solidFill>
            <a:srgbClr val="F1F8FC"/>
          </a:solidFill>
          <a:ln w="9525">
            <a:solidFill>
              <a:srgbClr val="D0D7DE"/>
            </a:solidFill>
            <a:prstDash val="solid"/>
          </a:ln>
        </p:spPr>
      </p:sp>
      <p:sp>
        <p:nvSpPr>
          <p:cNvPr id="7" name="Text 5"/>
          <p:cNvSpPr/>
          <p:nvPr/>
        </p:nvSpPr>
        <p:spPr>
          <a:xfrm>
            <a:off x="3675888" y="1664208"/>
            <a:ext cx="2194560" cy="457200"/>
          </a:xfrm>
          <a:prstGeom prst="rect">
            <a:avLst/>
          </a:prstGeom>
          <a:noFill/>
          <a:ln/>
        </p:spPr>
        <p:txBody>
          <a:bodyPr wrap="square" lIns="0" tIns="0" rIns="0" bIns="0" rtlCol="0" anchor="ctr"/>
          <a:lstStyle/>
          <a:p>
            <a:pPr indent="0" marL="0">
              <a:buNone/>
            </a:pPr>
            <a:r>
              <a:rPr lang="en-US" sz="1450" b="1" dirty="0">
                <a:solidFill>
                  <a:srgbClr val="00497C"/>
                </a:solidFill>
                <a:latin typeface="Calibri" pitchFamily="34" charset="0"/>
                <a:ea typeface="Calibri" pitchFamily="34" charset="-122"/>
                <a:cs typeface="Calibri" pitchFamily="34" charset="-120"/>
              </a:rPr>
              <a:t>CORS restrictif</a:t>
            </a:r>
            <a:endParaRPr lang="en-US" sz="1450" dirty="0"/>
          </a:p>
        </p:txBody>
      </p:sp>
      <p:sp>
        <p:nvSpPr>
          <p:cNvPr id="8" name="Text 6"/>
          <p:cNvSpPr/>
          <p:nvPr/>
        </p:nvSpPr>
        <p:spPr>
          <a:xfrm>
            <a:off x="3675888" y="2148840"/>
            <a:ext cx="2194560" cy="1051560"/>
          </a:xfrm>
          <a:prstGeom prst="rect">
            <a:avLst/>
          </a:prstGeom>
          <a:noFill/>
          <a:ln/>
        </p:spPr>
        <p:txBody>
          <a:bodyPr wrap="square" lIns="0" tIns="0" rIns="0" bIns="0" rtlCol="0" anchor="t"/>
          <a:lstStyle/>
          <a:p>
            <a:pPr indent="0" marL="0">
              <a:buNone/>
            </a:pPr>
            <a:r>
              <a:rPr lang="en-US" sz="1200" dirty="0">
                <a:solidFill>
                  <a:srgbClr val="384050"/>
                </a:solidFill>
                <a:latin typeface="Calibri" pitchFamily="34" charset="0"/>
                <a:ea typeface="Calibri" pitchFamily="34" charset="-122"/>
                <a:cs typeface="Calibri" pitchFamily="34" charset="-120"/>
              </a:rPr>
              <a:t>Origines en liste blanche</a:t>
            </a:r>
            <a:endParaRPr lang="en-US" sz="1200" dirty="0"/>
          </a:p>
        </p:txBody>
      </p:sp>
      <p:sp>
        <p:nvSpPr>
          <p:cNvPr id="9" name="Shape 7"/>
          <p:cNvSpPr/>
          <p:nvPr/>
        </p:nvSpPr>
        <p:spPr>
          <a:xfrm>
            <a:off x="6309360" y="1463040"/>
            <a:ext cx="2606040" cy="1874520"/>
          </a:xfrm>
          <a:prstGeom prst="roundRect">
            <a:avLst>
              <a:gd name="adj" fmla="val 3902"/>
            </a:avLst>
          </a:prstGeom>
          <a:solidFill>
            <a:srgbClr val="F1F8FC"/>
          </a:solidFill>
          <a:ln w="9525">
            <a:solidFill>
              <a:srgbClr val="D0D7DE"/>
            </a:solidFill>
            <a:prstDash val="solid"/>
          </a:ln>
        </p:spPr>
      </p:sp>
      <p:sp>
        <p:nvSpPr>
          <p:cNvPr id="10" name="Text 8"/>
          <p:cNvSpPr/>
          <p:nvPr/>
        </p:nvSpPr>
        <p:spPr>
          <a:xfrm>
            <a:off x="6510528" y="1664208"/>
            <a:ext cx="2194560" cy="457200"/>
          </a:xfrm>
          <a:prstGeom prst="rect">
            <a:avLst/>
          </a:prstGeom>
          <a:noFill/>
          <a:ln/>
        </p:spPr>
        <p:txBody>
          <a:bodyPr wrap="square" lIns="0" tIns="0" rIns="0" bIns="0" rtlCol="0" anchor="ctr"/>
          <a:lstStyle/>
          <a:p>
            <a:pPr indent="0" marL="0">
              <a:buNone/>
            </a:pPr>
            <a:r>
              <a:rPr lang="en-US" sz="1450" b="1" dirty="0">
                <a:solidFill>
                  <a:srgbClr val="00497C"/>
                </a:solidFill>
                <a:latin typeface="Calibri" pitchFamily="34" charset="0"/>
                <a:ea typeface="Calibri" pitchFamily="34" charset="-122"/>
                <a:cs typeface="Calibri" pitchFamily="34" charset="-120"/>
              </a:rPr>
              <a:t>Helmet</a:t>
            </a:r>
            <a:endParaRPr lang="en-US" sz="1450" dirty="0"/>
          </a:p>
        </p:txBody>
      </p:sp>
      <p:sp>
        <p:nvSpPr>
          <p:cNvPr id="11" name="Text 9"/>
          <p:cNvSpPr/>
          <p:nvPr/>
        </p:nvSpPr>
        <p:spPr>
          <a:xfrm>
            <a:off x="6510528" y="2148840"/>
            <a:ext cx="2194560" cy="1051560"/>
          </a:xfrm>
          <a:prstGeom prst="rect">
            <a:avLst/>
          </a:prstGeom>
          <a:noFill/>
          <a:ln/>
        </p:spPr>
        <p:txBody>
          <a:bodyPr wrap="square" lIns="0" tIns="0" rIns="0" bIns="0" rtlCol="0" anchor="t"/>
          <a:lstStyle/>
          <a:p>
            <a:pPr indent="0" marL="0">
              <a:buNone/>
            </a:pPr>
            <a:r>
              <a:rPr lang="en-US" sz="1200" dirty="0">
                <a:solidFill>
                  <a:srgbClr val="384050"/>
                </a:solidFill>
                <a:latin typeface="Calibri" pitchFamily="34" charset="0"/>
                <a:ea typeface="Calibri" pitchFamily="34" charset="-122"/>
                <a:cs typeface="Calibri" pitchFamily="34" charset="-120"/>
              </a:rPr>
              <a:t>En-têtes HTTP durcis (HSTS, nosniff…)</a:t>
            </a:r>
            <a:endParaRPr lang="en-US" sz="1200" dirty="0"/>
          </a:p>
        </p:txBody>
      </p:sp>
      <p:sp>
        <p:nvSpPr>
          <p:cNvPr id="12" name="Shape 10"/>
          <p:cNvSpPr/>
          <p:nvPr/>
        </p:nvSpPr>
        <p:spPr>
          <a:xfrm>
            <a:off x="9144000" y="1463040"/>
            <a:ext cx="2606040" cy="1874520"/>
          </a:xfrm>
          <a:prstGeom prst="roundRect">
            <a:avLst>
              <a:gd name="adj" fmla="val 3902"/>
            </a:avLst>
          </a:prstGeom>
          <a:solidFill>
            <a:srgbClr val="F1F8FC"/>
          </a:solidFill>
          <a:ln w="9525">
            <a:solidFill>
              <a:srgbClr val="D0D7DE"/>
            </a:solidFill>
            <a:prstDash val="solid"/>
          </a:ln>
        </p:spPr>
      </p:sp>
      <p:sp>
        <p:nvSpPr>
          <p:cNvPr id="13" name="Text 11"/>
          <p:cNvSpPr/>
          <p:nvPr/>
        </p:nvSpPr>
        <p:spPr>
          <a:xfrm>
            <a:off x="9345168" y="1664208"/>
            <a:ext cx="2194560" cy="457200"/>
          </a:xfrm>
          <a:prstGeom prst="rect">
            <a:avLst/>
          </a:prstGeom>
          <a:noFill/>
          <a:ln/>
        </p:spPr>
        <p:txBody>
          <a:bodyPr wrap="square" lIns="0" tIns="0" rIns="0" bIns="0" rtlCol="0" anchor="ctr"/>
          <a:lstStyle/>
          <a:p>
            <a:pPr indent="0" marL="0">
              <a:buNone/>
            </a:pPr>
            <a:r>
              <a:rPr lang="en-US" sz="1450" b="1" dirty="0">
                <a:solidFill>
                  <a:srgbClr val="00497C"/>
                </a:solidFill>
                <a:latin typeface="Calibri" pitchFamily="34" charset="0"/>
                <a:ea typeface="Calibri" pitchFamily="34" charset="-122"/>
                <a:cs typeface="Calibri" pitchFamily="34" charset="-120"/>
              </a:rPr>
              <a:t>Rate limiting</a:t>
            </a:r>
            <a:endParaRPr lang="en-US" sz="1450" dirty="0"/>
          </a:p>
        </p:txBody>
      </p:sp>
      <p:sp>
        <p:nvSpPr>
          <p:cNvPr id="14" name="Text 12"/>
          <p:cNvSpPr/>
          <p:nvPr/>
        </p:nvSpPr>
        <p:spPr>
          <a:xfrm>
            <a:off x="9345168" y="2148840"/>
            <a:ext cx="2194560" cy="1051560"/>
          </a:xfrm>
          <a:prstGeom prst="rect">
            <a:avLst/>
          </a:prstGeom>
          <a:noFill/>
          <a:ln/>
        </p:spPr>
        <p:txBody>
          <a:bodyPr wrap="square" lIns="0" tIns="0" rIns="0" bIns="0" rtlCol="0" anchor="t"/>
          <a:lstStyle/>
          <a:p>
            <a:pPr indent="0" marL="0">
              <a:buNone/>
            </a:pPr>
            <a:r>
              <a:rPr lang="en-US" sz="1200" dirty="0">
                <a:solidFill>
                  <a:srgbClr val="384050"/>
                </a:solidFill>
                <a:latin typeface="Calibri" pitchFamily="34" charset="0"/>
                <a:ea typeface="Calibri" pitchFamily="34" charset="-122"/>
                <a:cs typeface="Calibri" pitchFamily="34" charset="-120"/>
              </a:rPr>
              <a:t>100 req/15 min · 5 pour le contact</a:t>
            </a:r>
            <a:endParaRPr lang="en-US" sz="1200" dirty="0"/>
          </a:p>
        </p:txBody>
      </p:sp>
      <p:sp>
        <p:nvSpPr>
          <p:cNvPr id="15" name="Shape 13"/>
          <p:cNvSpPr/>
          <p:nvPr/>
        </p:nvSpPr>
        <p:spPr>
          <a:xfrm>
            <a:off x="640080" y="3566160"/>
            <a:ext cx="2606040" cy="1874520"/>
          </a:xfrm>
          <a:prstGeom prst="roundRect">
            <a:avLst>
              <a:gd name="adj" fmla="val 3902"/>
            </a:avLst>
          </a:prstGeom>
          <a:solidFill>
            <a:srgbClr val="F1F8FC"/>
          </a:solidFill>
          <a:ln w="9525">
            <a:solidFill>
              <a:srgbClr val="D0D7DE"/>
            </a:solidFill>
            <a:prstDash val="solid"/>
          </a:ln>
        </p:spPr>
      </p:sp>
      <p:sp>
        <p:nvSpPr>
          <p:cNvPr id="16" name="Text 14"/>
          <p:cNvSpPr/>
          <p:nvPr/>
        </p:nvSpPr>
        <p:spPr>
          <a:xfrm>
            <a:off x="841248" y="3767328"/>
            <a:ext cx="2194560" cy="457200"/>
          </a:xfrm>
          <a:prstGeom prst="rect">
            <a:avLst/>
          </a:prstGeom>
          <a:noFill/>
          <a:ln/>
        </p:spPr>
        <p:txBody>
          <a:bodyPr wrap="square" lIns="0" tIns="0" rIns="0" bIns="0" rtlCol="0" anchor="ctr"/>
          <a:lstStyle/>
          <a:p>
            <a:pPr indent="0" marL="0">
              <a:buNone/>
            </a:pPr>
            <a:r>
              <a:rPr lang="en-US" sz="1450" b="1" dirty="0">
                <a:solidFill>
                  <a:srgbClr val="00497C"/>
                </a:solidFill>
                <a:latin typeface="Calibri" pitchFamily="34" charset="0"/>
                <a:ea typeface="Calibri" pitchFamily="34" charset="-122"/>
                <a:cs typeface="Calibri" pitchFamily="34" charset="-120"/>
              </a:rPr>
              <a:t>Validation</a:t>
            </a:r>
            <a:endParaRPr lang="en-US" sz="1450" dirty="0"/>
          </a:p>
        </p:txBody>
      </p:sp>
      <p:sp>
        <p:nvSpPr>
          <p:cNvPr id="17" name="Text 15"/>
          <p:cNvSpPr/>
          <p:nvPr/>
        </p:nvSpPr>
        <p:spPr>
          <a:xfrm>
            <a:off x="841248" y="4251960"/>
            <a:ext cx="2194560" cy="1051560"/>
          </a:xfrm>
          <a:prstGeom prst="rect">
            <a:avLst/>
          </a:prstGeom>
          <a:noFill/>
          <a:ln/>
        </p:spPr>
        <p:txBody>
          <a:bodyPr wrap="square" lIns="0" tIns="0" rIns="0" bIns="0" rtlCol="0" anchor="t"/>
          <a:lstStyle/>
          <a:p>
            <a:pPr indent="0" marL="0">
              <a:buNone/>
            </a:pPr>
            <a:r>
              <a:rPr lang="en-US" sz="1200" dirty="0">
                <a:solidFill>
                  <a:srgbClr val="384050"/>
                </a:solidFill>
                <a:latin typeface="Calibri" pitchFamily="34" charset="0"/>
                <a:ea typeface="Calibri" pitchFamily="34" charset="-122"/>
                <a:cs typeface="Calibri" pitchFamily="34" charset="-120"/>
              </a:rPr>
              <a:t>express-validator sur toutes les entrées</a:t>
            </a:r>
            <a:endParaRPr lang="en-US" sz="1200" dirty="0"/>
          </a:p>
        </p:txBody>
      </p:sp>
      <p:sp>
        <p:nvSpPr>
          <p:cNvPr id="18" name="Shape 16"/>
          <p:cNvSpPr/>
          <p:nvPr/>
        </p:nvSpPr>
        <p:spPr>
          <a:xfrm>
            <a:off x="3474720" y="3566160"/>
            <a:ext cx="2606040" cy="1874520"/>
          </a:xfrm>
          <a:prstGeom prst="roundRect">
            <a:avLst>
              <a:gd name="adj" fmla="val 3902"/>
            </a:avLst>
          </a:prstGeom>
          <a:solidFill>
            <a:srgbClr val="F1F8FC"/>
          </a:solidFill>
          <a:ln w="9525">
            <a:solidFill>
              <a:srgbClr val="D0D7DE"/>
            </a:solidFill>
            <a:prstDash val="solid"/>
          </a:ln>
        </p:spPr>
      </p:sp>
      <p:sp>
        <p:nvSpPr>
          <p:cNvPr id="19" name="Text 17"/>
          <p:cNvSpPr/>
          <p:nvPr/>
        </p:nvSpPr>
        <p:spPr>
          <a:xfrm>
            <a:off x="3675888" y="3767328"/>
            <a:ext cx="2194560" cy="457200"/>
          </a:xfrm>
          <a:prstGeom prst="rect">
            <a:avLst/>
          </a:prstGeom>
          <a:noFill/>
          <a:ln/>
        </p:spPr>
        <p:txBody>
          <a:bodyPr wrap="square" lIns="0" tIns="0" rIns="0" bIns="0" rtlCol="0" anchor="ctr"/>
          <a:lstStyle/>
          <a:p>
            <a:pPr indent="0" marL="0">
              <a:buNone/>
            </a:pPr>
            <a:r>
              <a:rPr lang="en-US" sz="1450" b="1" dirty="0">
                <a:solidFill>
                  <a:srgbClr val="00497C"/>
                </a:solidFill>
                <a:latin typeface="Calibri" pitchFamily="34" charset="0"/>
                <a:ea typeface="Calibri" pitchFamily="34" charset="-122"/>
                <a:cs typeface="Calibri" pitchFamily="34" charset="-120"/>
              </a:rPr>
              <a:t>Anti-injection</a:t>
            </a:r>
            <a:endParaRPr lang="en-US" sz="1450" dirty="0"/>
          </a:p>
        </p:txBody>
      </p:sp>
      <p:sp>
        <p:nvSpPr>
          <p:cNvPr id="20" name="Text 18"/>
          <p:cNvSpPr/>
          <p:nvPr/>
        </p:nvSpPr>
        <p:spPr>
          <a:xfrm>
            <a:off x="3675888" y="4251960"/>
            <a:ext cx="2194560" cy="1051560"/>
          </a:xfrm>
          <a:prstGeom prst="rect">
            <a:avLst/>
          </a:prstGeom>
          <a:noFill/>
          <a:ln/>
        </p:spPr>
        <p:txBody>
          <a:bodyPr wrap="square" lIns="0" tIns="0" rIns="0" bIns="0" rtlCol="0" anchor="t"/>
          <a:lstStyle/>
          <a:p>
            <a:pPr indent="0" marL="0">
              <a:buNone/>
            </a:pPr>
            <a:r>
              <a:rPr lang="en-US" sz="1200" dirty="0">
                <a:solidFill>
                  <a:srgbClr val="384050"/>
                </a:solidFill>
                <a:latin typeface="Calibri" pitchFamily="34" charset="0"/>
                <a:ea typeface="Calibri" pitchFamily="34" charset="-122"/>
                <a:cs typeface="Calibri" pitchFamily="34" charset="-120"/>
              </a:rPr>
              <a:t>Requêtes paramétrées (Sequelize)</a:t>
            </a:r>
            <a:endParaRPr lang="en-US" sz="1200" dirty="0"/>
          </a:p>
        </p:txBody>
      </p:sp>
      <p:sp>
        <p:nvSpPr>
          <p:cNvPr id="21" name="Shape 19"/>
          <p:cNvSpPr/>
          <p:nvPr/>
        </p:nvSpPr>
        <p:spPr>
          <a:xfrm>
            <a:off x="6309360" y="3566160"/>
            <a:ext cx="2606040" cy="1874520"/>
          </a:xfrm>
          <a:prstGeom prst="roundRect">
            <a:avLst>
              <a:gd name="adj" fmla="val 3902"/>
            </a:avLst>
          </a:prstGeom>
          <a:solidFill>
            <a:srgbClr val="F1F8FC"/>
          </a:solidFill>
          <a:ln w="9525">
            <a:solidFill>
              <a:srgbClr val="D0D7DE"/>
            </a:solidFill>
            <a:prstDash val="solid"/>
          </a:ln>
        </p:spPr>
      </p:sp>
      <p:sp>
        <p:nvSpPr>
          <p:cNvPr id="22" name="Text 20"/>
          <p:cNvSpPr/>
          <p:nvPr/>
        </p:nvSpPr>
        <p:spPr>
          <a:xfrm>
            <a:off x="6510528" y="3767328"/>
            <a:ext cx="2194560" cy="457200"/>
          </a:xfrm>
          <a:prstGeom prst="rect">
            <a:avLst/>
          </a:prstGeom>
          <a:noFill/>
          <a:ln/>
        </p:spPr>
        <p:txBody>
          <a:bodyPr wrap="square" lIns="0" tIns="0" rIns="0" bIns="0" rtlCol="0" anchor="ctr"/>
          <a:lstStyle/>
          <a:p>
            <a:pPr indent="0" marL="0">
              <a:buNone/>
            </a:pPr>
            <a:r>
              <a:rPr lang="en-US" sz="1450" b="1" dirty="0">
                <a:solidFill>
                  <a:srgbClr val="00497C"/>
                </a:solidFill>
                <a:latin typeface="Calibri" pitchFamily="34" charset="0"/>
                <a:ea typeface="Calibri" pitchFamily="34" charset="-122"/>
                <a:cs typeface="Calibri" pitchFamily="34" charset="-120"/>
              </a:rPr>
              <a:t>Moindre privilège</a:t>
            </a:r>
            <a:endParaRPr lang="en-US" sz="1450" dirty="0"/>
          </a:p>
        </p:txBody>
      </p:sp>
      <p:sp>
        <p:nvSpPr>
          <p:cNvPr id="23" name="Text 21"/>
          <p:cNvSpPr/>
          <p:nvPr/>
        </p:nvSpPr>
        <p:spPr>
          <a:xfrm>
            <a:off x="6510528" y="4251960"/>
            <a:ext cx="2194560" cy="1051560"/>
          </a:xfrm>
          <a:prstGeom prst="rect">
            <a:avLst/>
          </a:prstGeom>
          <a:noFill/>
          <a:ln/>
        </p:spPr>
        <p:txBody>
          <a:bodyPr wrap="square" lIns="0" tIns="0" rIns="0" bIns="0" rtlCol="0" anchor="t"/>
          <a:lstStyle/>
          <a:p>
            <a:pPr indent="0" marL="0">
              <a:buNone/>
            </a:pPr>
            <a:r>
              <a:rPr lang="en-US" sz="1200" dirty="0">
                <a:solidFill>
                  <a:srgbClr val="384050"/>
                </a:solidFill>
                <a:latin typeface="Calibri" pitchFamily="34" charset="0"/>
                <a:ea typeface="Calibri" pitchFamily="34" charset="-122"/>
                <a:cs typeface="Calibri" pitchFamily="34" charset="-120"/>
              </a:rPr>
              <a:t>Compte BDD limité au CRUD</a:t>
            </a:r>
            <a:endParaRPr lang="en-US" sz="1200" dirty="0"/>
          </a:p>
        </p:txBody>
      </p:sp>
      <p:sp>
        <p:nvSpPr>
          <p:cNvPr id="24" name="Shape 22"/>
          <p:cNvSpPr/>
          <p:nvPr/>
        </p:nvSpPr>
        <p:spPr>
          <a:xfrm>
            <a:off x="9144000" y="3566160"/>
            <a:ext cx="2606040" cy="1874520"/>
          </a:xfrm>
          <a:prstGeom prst="roundRect">
            <a:avLst>
              <a:gd name="adj" fmla="val 3902"/>
            </a:avLst>
          </a:prstGeom>
          <a:solidFill>
            <a:srgbClr val="F1F8FC"/>
          </a:solidFill>
          <a:ln w="9525">
            <a:solidFill>
              <a:srgbClr val="D0D7DE"/>
            </a:solidFill>
            <a:prstDash val="solid"/>
          </a:ln>
        </p:spPr>
      </p:sp>
      <p:sp>
        <p:nvSpPr>
          <p:cNvPr id="25" name="Text 23"/>
          <p:cNvSpPr/>
          <p:nvPr/>
        </p:nvSpPr>
        <p:spPr>
          <a:xfrm>
            <a:off x="9345168" y="3767328"/>
            <a:ext cx="2194560" cy="457200"/>
          </a:xfrm>
          <a:prstGeom prst="rect">
            <a:avLst/>
          </a:prstGeom>
          <a:noFill/>
          <a:ln/>
        </p:spPr>
        <p:txBody>
          <a:bodyPr wrap="square" lIns="0" tIns="0" rIns="0" bIns="0" rtlCol="0" anchor="ctr"/>
          <a:lstStyle/>
          <a:p>
            <a:pPr indent="0" marL="0">
              <a:buNone/>
            </a:pPr>
            <a:r>
              <a:rPr lang="en-US" sz="1450" b="1" dirty="0">
                <a:solidFill>
                  <a:srgbClr val="00497C"/>
                </a:solidFill>
                <a:latin typeface="Calibri" pitchFamily="34" charset="0"/>
                <a:ea typeface="Calibri" pitchFamily="34" charset="-122"/>
                <a:cs typeface="Calibri" pitchFamily="34" charset="-120"/>
              </a:rPr>
              <a:t>HTTPS + secrets</a:t>
            </a:r>
            <a:endParaRPr lang="en-US" sz="1450" dirty="0"/>
          </a:p>
        </p:txBody>
      </p:sp>
      <p:sp>
        <p:nvSpPr>
          <p:cNvPr id="26" name="Text 24"/>
          <p:cNvSpPr/>
          <p:nvPr/>
        </p:nvSpPr>
        <p:spPr>
          <a:xfrm>
            <a:off x="9345168" y="4251960"/>
            <a:ext cx="2194560" cy="1051560"/>
          </a:xfrm>
          <a:prstGeom prst="rect">
            <a:avLst/>
          </a:prstGeom>
          <a:noFill/>
          <a:ln/>
        </p:spPr>
        <p:txBody>
          <a:bodyPr wrap="square" lIns="0" tIns="0" rIns="0" bIns="0" rtlCol="0" anchor="t"/>
          <a:lstStyle/>
          <a:p>
            <a:pPr indent="0" marL="0">
              <a:buNone/>
            </a:pPr>
            <a:r>
              <a:rPr lang="en-US" sz="1200" dirty="0">
                <a:solidFill>
                  <a:srgbClr val="384050"/>
                </a:solidFill>
                <a:latin typeface="Calibri" pitchFamily="34" charset="0"/>
                <a:ea typeface="Calibri" pitchFamily="34" charset="-122"/>
                <a:cs typeface="Calibri" pitchFamily="34" charset="-120"/>
              </a:rPr>
              <a:t>TLS partout, secrets en variables d’env.</a:t>
            </a:r>
            <a:endParaRPr lang="en-US" sz="1200" dirty="0"/>
          </a:p>
        </p:txBody>
      </p:sp>
      <p:sp>
        <p:nvSpPr>
          <p:cNvPr id="27" name="Text 25"/>
          <p:cNvSpPr/>
          <p:nvPr/>
        </p:nvSpPr>
        <p:spPr>
          <a:xfrm>
            <a:off x="640080" y="5623560"/>
            <a:ext cx="10972800" cy="411480"/>
          </a:xfrm>
          <a:prstGeom prst="rect">
            <a:avLst/>
          </a:prstGeom>
          <a:noFill/>
          <a:ln/>
        </p:spPr>
        <p:txBody>
          <a:bodyPr wrap="square" lIns="0" tIns="0" rIns="0" bIns="0" rtlCol="0" anchor="ctr"/>
          <a:lstStyle/>
          <a:p>
            <a:pPr indent="0" marL="0">
              <a:buNone/>
            </a:pPr>
            <a:r>
              <a:rPr lang="en-US" sz="1250" i="1" dirty="0">
                <a:solidFill>
                  <a:srgbClr val="8A94A6"/>
                </a:solidFill>
                <a:latin typeface="Calibri" pitchFamily="34" charset="0"/>
                <a:ea typeface="Calibri" pitchFamily="34" charset="-122"/>
                <a:cs typeface="Calibri" pitchFamily="34" charset="-120"/>
              </a:rPr>
              <a:t>Démarche alignée sur l'OWASP Top 10 (2021) — détail complet dans le dossier.</a:t>
            </a:r>
            <a:endParaRPr lang="en-US" sz="125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Jeu d'essai — dépôt et relecture d'un avis</a:t>
            </a:r>
            <a:endParaRPr lang="en-US" sz="3000" dirty="0"/>
          </a:p>
        </p:txBody>
      </p:sp>
      <p:sp>
        <p:nvSpPr>
          <p:cNvPr id="3" name="Text 1"/>
          <p:cNvSpPr/>
          <p:nvPr/>
        </p:nvSpPr>
        <p:spPr>
          <a:xfrm>
            <a:off x="548640" y="960120"/>
            <a:ext cx="11155680" cy="365760"/>
          </a:xfrm>
          <a:prstGeom prst="rect">
            <a:avLst/>
          </a:prstGeom>
          <a:noFill/>
          <a:ln/>
        </p:spPr>
        <p:txBody>
          <a:bodyPr wrap="square" lIns="0" tIns="0" rIns="0" bIns="0" rtlCol="0" anchor="ctr"/>
          <a:lstStyle/>
          <a:p>
            <a:pPr indent="0" marL="0">
              <a:buNone/>
            </a:pPr>
            <a:r>
              <a:rPr lang="en-US" sz="1300" dirty="0">
                <a:solidFill>
                  <a:srgbClr val="384050"/>
                </a:solidFill>
                <a:latin typeface="Calibri" pitchFamily="34" charset="0"/>
                <a:ea typeface="Calibri" pitchFamily="34" charset="-122"/>
                <a:cs typeface="Calibri" pitchFamily="34" charset="-120"/>
              </a:rPr>
              <a:t>Fonctionnalité la plus représentative : elle traverse le front, la validation, puis les deux bases (SQL et NoSQL).</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691640"/>
                <a:gridCol w="3977640"/>
                <a:gridCol w="2834640"/>
                <a:gridCol w="260604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Cas</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0497C"/>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Données en entrée</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0497C"/>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Attendu</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0497C"/>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Obtenu</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0497C"/>
                    </a:solidFill>
                  </a:tcPr>
                </a:tc>
              </a:tr>
              <a:tr h="777240">
                <a:tc>
                  <a:txBody>
                    <a:bodyPr/>
                    <a:lstStyle/>
                    <a:p>
                      <a:pPr indent="0" marL="0">
                        <a:buNone/>
                      </a:pPr>
                      <a:r>
                        <a:rPr lang="en-US" sz="1250" dirty="0">
                          <a:solidFill>
                            <a:srgbClr val="384050"/>
                          </a:solidFill>
                          <a:latin typeface="Calibri" pitchFamily="34" charset="0"/>
                          <a:ea typeface="Calibri" pitchFamily="34" charset="-122"/>
                          <a:cs typeface="Calibri" pitchFamily="34" charset="-120"/>
                        </a:rPr>
                        <a:t>Nominal</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50" dirty="0">
                          <a:solidFill>
                            <a:srgbClr val="384050"/>
                          </a:solidFill>
                          <a:latin typeface="Calibri" pitchFamily="34" charset="0"/>
                          <a:ea typeface="Calibri" pitchFamily="34" charset="-122"/>
                          <a:cs typeface="Calibri" pitchFamily="34" charset="-120"/>
                        </a:rPr>
                        <a:t>Deux avis sur l’artisan 1 : Claire (5/5) puis Marc (3/5)</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50" dirty="0">
                          <a:solidFill>
                            <a:srgbClr val="384050"/>
                          </a:solidFill>
                          <a:latin typeface="Calibri" pitchFamily="34" charset="0"/>
                          <a:ea typeface="Calibri" pitchFamily="34" charset="-122"/>
                          <a:cs typeface="Calibri" pitchFamily="34" charset="-120"/>
                        </a:rPr>
                        <a:t>201 ; le GET renvoie count 2, average 4</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50" dirty="0">
                          <a:solidFill>
                            <a:srgbClr val="384050"/>
                          </a:solidFill>
                          <a:latin typeface="Calibri" pitchFamily="34" charset="0"/>
                          <a:ea typeface="Calibri" pitchFamily="34" charset="-122"/>
                          <a:cs typeface="Calibri" pitchFamily="34" charset="-120"/>
                        </a:rPr>
                        <a:t>Conforme (count 2, average 4)</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77240">
                <a:tc>
                  <a:txBody>
                    <a:bodyPr/>
                    <a:lstStyle/>
                    <a:p>
                      <a:pPr indent="0" marL="0">
                        <a:buNone/>
                      </a:pPr>
                      <a:r>
                        <a:rPr lang="en-US" sz="1250" dirty="0">
                          <a:solidFill>
                            <a:srgbClr val="384050"/>
                          </a:solidFill>
                          <a:latin typeface="Calibri" pitchFamily="34" charset="0"/>
                          <a:ea typeface="Calibri" pitchFamily="34" charset="-122"/>
                          <a:cs typeface="Calibri" pitchFamily="34" charset="-120"/>
                        </a:rPr>
                        <a:t>Saisie invalide</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50" dirty="0">
                          <a:solidFill>
                            <a:srgbClr val="384050"/>
                          </a:solidFill>
                          <a:latin typeface="Calibri" pitchFamily="34" charset="0"/>
                          <a:ea typeface="Calibri" pitchFamily="34" charset="-122"/>
                          <a:cs typeface="Calibri" pitchFamily="34" charset="-120"/>
                        </a:rPr>
                        <a:t>Note de 9 et commentaire trop court</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50" dirty="0">
                          <a:solidFill>
                            <a:srgbClr val="384050"/>
                          </a:solidFill>
                          <a:latin typeface="Calibri" pitchFamily="34" charset="0"/>
                          <a:ea typeface="Calibri" pitchFamily="34" charset="-122"/>
                          <a:cs typeface="Calibri" pitchFamily="34" charset="-120"/>
                        </a:rPr>
                        <a:t>400 — erreur de validation</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50" dirty="0">
                          <a:solidFill>
                            <a:srgbClr val="384050"/>
                          </a:solidFill>
                          <a:latin typeface="Calibri" pitchFamily="34" charset="0"/>
                          <a:ea typeface="Calibri" pitchFamily="34" charset="-122"/>
                          <a:cs typeface="Calibri" pitchFamily="34" charset="-120"/>
                        </a:rPr>
                        <a:t>Conforme (400, ValidationError)</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77240">
                <a:tc>
                  <a:txBody>
                    <a:bodyPr/>
                    <a:lstStyle/>
                    <a:p>
                      <a:pPr indent="0" marL="0">
                        <a:buNone/>
                      </a:pPr>
                      <a:r>
                        <a:rPr lang="en-US" sz="1250" dirty="0">
                          <a:solidFill>
                            <a:srgbClr val="384050"/>
                          </a:solidFill>
                          <a:latin typeface="Calibri" pitchFamily="34" charset="0"/>
                          <a:ea typeface="Calibri" pitchFamily="34" charset="-122"/>
                          <a:cs typeface="Calibri" pitchFamily="34" charset="-120"/>
                        </a:rPr>
                        <a:t>Base NoSQL arrêtée</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50" dirty="0">
                          <a:solidFill>
                            <a:srgbClr val="384050"/>
                          </a:solidFill>
                          <a:latin typeface="Calibri" pitchFamily="34" charset="0"/>
                          <a:ea typeface="Calibri" pitchFamily="34" charset="-122"/>
                          <a:cs typeface="Calibri" pitchFamily="34" charset="-120"/>
                        </a:rPr>
                        <a:t>Dépôt d’un avis, MongoDB éteint</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50" dirty="0">
                          <a:solidFill>
                            <a:srgbClr val="384050"/>
                          </a:solidFill>
                          <a:latin typeface="Calibri" pitchFamily="34" charset="0"/>
                          <a:ea typeface="Calibri" pitchFamily="34" charset="-122"/>
                          <a:cs typeface="Calibri" pitchFamily="34" charset="-120"/>
                        </a:rPr>
                        <a:t>503 — service indisponible</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50" dirty="0">
                          <a:solidFill>
                            <a:srgbClr val="384050"/>
                          </a:solidFill>
                          <a:latin typeface="Calibri" pitchFamily="34" charset="0"/>
                          <a:ea typeface="Calibri" pitchFamily="34" charset="-122"/>
                          <a:cs typeface="Calibri" pitchFamily="34" charset="-120"/>
                        </a:rPr>
                        <a:t>Conforme (503)</a:t>
                      </a:r>
                      <a:endParaRPr lang="en-US" sz="1250" dirty="0">
                        <a:latin typeface="Calibri" charset="0"/>
                        <a:ea typeface="Calibri" charset="0"/>
                        <a:cs typeface="Calibri" charset="0"/>
                      </a:endParaRPr>
                    </a:p>
                  </a:txBody>
                  <a:tcPr marL="73152" marR="73152"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5120640"/>
            <a:ext cx="11155680" cy="640080"/>
          </a:xfrm>
          <a:prstGeom prst="rect">
            <a:avLst/>
          </a:prstGeom>
          <a:noFill/>
          <a:ln/>
        </p:spPr>
        <p:txBody>
          <a:bodyPr wrap="square" lIns="0" tIns="0" rIns="0" bIns="0" rtlCol="0" anchor="ctr"/>
          <a:lstStyle/>
          <a:p>
            <a:pPr indent="0" marL="0">
              <a:buNone/>
            </a:pPr>
            <a:r>
              <a:rPr lang="en-US" sz="1300" dirty="0">
                <a:solidFill>
                  <a:srgbClr val="384050"/>
                </a:solidFill>
                <a:latin typeface="Calibri" pitchFamily="34" charset="0"/>
                <a:ea typeface="Calibri" pitchFamily="34" charset="-122"/>
                <a:cs typeface="Calibri" pitchFamily="34" charset="-120"/>
              </a:rPr>
              <a:t>Aucun écart entre l'attendu et l'obtenu. Les deux premiers cas sont couverts par la suite de tests automatisée ; l'indisponibilité de MongoDB a été vérifiée manuellement.</a:t>
            </a:r>
            <a:endParaRPr lang="en-US" sz="13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92608"/>
            <a:ext cx="11064240" cy="685800"/>
          </a:xfrm>
          <a:prstGeom prst="rect">
            <a:avLst/>
          </a:prstGeom>
          <a:noFill/>
          <a:ln/>
        </p:spPr>
        <p:txBody>
          <a:bodyPr wrap="square" lIns="0" tIns="0" rIns="0" bIns="0" rtlCol="0" anchor="ctr"/>
          <a:lstStyle/>
          <a:p>
            <a:pPr indent="0" marL="0">
              <a:buNone/>
            </a:pPr>
            <a:r>
              <a:rPr lang="en-US" sz="3000" b="1" dirty="0">
                <a:solidFill>
                  <a:srgbClr val="00497C"/>
                </a:solidFill>
                <a:latin typeface="Calibri" pitchFamily="34" charset="0"/>
                <a:ea typeface="Calibri" pitchFamily="34" charset="-122"/>
                <a:cs typeface="Calibri" pitchFamily="34" charset="-120"/>
              </a:rPr>
              <a:t>Tests automatisés et veille sécurité</a:t>
            </a:r>
            <a:endParaRPr lang="en-US" sz="3000" dirty="0"/>
          </a:p>
        </p:txBody>
      </p:sp>
      <p:sp>
        <p:nvSpPr>
          <p:cNvPr id="3" name="Shape 1"/>
          <p:cNvSpPr/>
          <p:nvPr/>
        </p:nvSpPr>
        <p:spPr>
          <a:xfrm>
            <a:off x="640080" y="1371600"/>
            <a:ext cx="5486400" cy="4572000"/>
          </a:xfrm>
          <a:prstGeom prst="roundRect">
            <a:avLst>
              <a:gd name="adj" fmla="val 1600"/>
            </a:avLst>
          </a:prstGeom>
          <a:solidFill>
            <a:srgbClr val="F1F8FC"/>
          </a:solidFill>
          <a:ln w="9525">
            <a:solidFill>
              <a:srgbClr val="D0D7DE"/>
            </a:solidFill>
            <a:prstDash val="solid"/>
          </a:ln>
        </p:spPr>
      </p:sp>
      <p:sp>
        <p:nvSpPr>
          <p:cNvPr id="4" name="Text 2"/>
          <p:cNvSpPr/>
          <p:nvPr/>
        </p:nvSpPr>
        <p:spPr>
          <a:xfrm>
            <a:off x="1005840" y="1691640"/>
            <a:ext cx="475488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Tests (Mocha · Chai · Supertest)</a:t>
            </a:r>
            <a:endParaRPr lang="en-US" sz="1700" dirty="0"/>
          </a:p>
        </p:txBody>
      </p:sp>
      <p:sp>
        <p:nvSpPr>
          <p:cNvPr id="5" name="Text 3"/>
          <p:cNvSpPr/>
          <p:nvPr/>
        </p:nvSpPr>
        <p:spPr>
          <a:xfrm>
            <a:off x="1005840" y="2194560"/>
            <a:ext cx="2377440" cy="868680"/>
          </a:xfrm>
          <a:prstGeom prst="rect">
            <a:avLst/>
          </a:prstGeom>
          <a:noFill/>
          <a:ln/>
        </p:spPr>
        <p:txBody>
          <a:bodyPr wrap="square" lIns="0" tIns="0" rIns="0" bIns="0" rtlCol="0" anchor="ctr"/>
          <a:lstStyle/>
          <a:p>
            <a:pPr indent="0" marL="0">
              <a:buNone/>
            </a:pPr>
            <a:r>
              <a:rPr lang="en-US" sz="4400" b="1" dirty="0">
                <a:solidFill>
                  <a:srgbClr val="82B864"/>
                </a:solidFill>
                <a:latin typeface="Calibri" pitchFamily="34" charset="0"/>
                <a:ea typeface="Calibri" pitchFamily="34" charset="-122"/>
                <a:cs typeface="Calibri" pitchFamily="34" charset="-120"/>
              </a:rPr>
              <a:t>11/11</a:t>
            </a:r>
            <a:endParaRPr lang="en-US" sz="4400" dirty="0"/>
          </a:p>
        </p:txBody>
      </p:sp>
      <p:sp>
        <p:nvSpPr>
          <p:cNvPr id="6" name="Text 4"/>
          <p:cNvSpPr/>
          <p:nvPr/>
        </p:nvSpPr>
        <p:spPr>
          <a:xfrm>
            <a:off x="3291840" y="2514600"/>
            <a:ext cx="2651760" cy="457200"/>
          </a:xfrm>
          <a:prstGeom prst="rect">
            <a:avLst/>
          </a:prstGeom>
          <a:noFill/>
          <a:ln/>
        </p:spPr>
        <p:txBody>
          <a:bodyPr wrap="square" lIns="0" tIns="0" rIns="0" bIns="0" rtlCol="0" anchor="ctr"/>
          <a:lstStyle/>
          <a:p>
            <a:pPr indent="0" marL="0">
              <a:buNone/>
            </a:pPr>
            <a:r>
              <a:rPr lang="en-US" sz="1300" dirty="0">
                <a:solidFill>
                  <a:srgbClr val="384050"/>
                </a:solidFill>
                <a:latin typeface="Calibri" pitchFamily="34" charset="0"/>
                <a:ea typeface="Calibri" pitchFamily="34" charset="-122"/>
                <a:cs typeface="Calibri" pitchFamily="34" charset="-120"/>
              </a:rPr>
              <a:t>tests au vert (npm test)</a:t>
            </a:r>
            <a:endParaRPr lang="en-US" sz="1300" dirty="0"/>
          </a:p>
        </p:txBody>
      </p:sp>
      <p:sp>
        <p:nvSpPr>
          <p:cNvPr id="7" name="Text 5"/>
          <p:cNvSpPr/>
          <p:nvPr/>
        </p:nvSpPr>
        <p:spPr>
          <a:xfrm>
            <a:off x="1005840" y="3246120"/>
            <a:ext cx="4754880" cy="246888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SQL : SQLite en mémoire · NoSQL : MongoDB éphémère</a:t>
            </a:r>
            <a:endParaRPr lang="en-US" sz="1300" dirty="0"/>
          </a:p>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Artisans : liste, fiche, 404, recherche vide</a:t>
            </a:r>
            <a:endParaRPr lang="en-US" sz="1300" dirty="0"/>
          </a:p>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Avis : dépôt, moyenne recalculée, artisan inexistant</a:t>
            </a:r>
            <a:endParaRPr lang="en-US" sz="1300" dirty="0"/>
          </a:p>
          <a:p>
            <a:pPr marL="152400" indent="-152400">
              <a:lnSpc>
                <a:spcPct val="105000"/>
              </a:lnSpc>
              <a:spcAft>
                <a:spcPts val="900"/>
              </a:spcAft>
              <a:buSzPct val="100000"/>
              <a:buChar char="•"/>
            </a:pPr>
            <a:r>
              <a:rPr lang="en-US" sz="1300" dirty="0">
                <a:solidFill>
                  <a:srgbClr val="384050"/>
                </a:solidFill>
                <a:latin typeface="Calibri" pitchFamily="34" charset="0"/>
                <a:ea typeface="Calibri" pitchFamily="34" charset="-122"/>
                <a:cs typeface="Calibri" pitchFamily="34" charset="-120"/>
              </a:rPr>
              <a:t>Sécurité : 401 sans clé, 400 validation, route publique</a:t>
            </a:r>
            <a:endParaRPr lang="en-US" sz="1300" dirty="0"/>
          </a:p>
        </p:txBody>
      </p:sp>
      <p:sp>
        <p:nvSpPr>
          <p:cNvPr id="8" name="Shape 6"/>
          <p:cNvSpPr/>
          <p:nvPr/>
        </p:nvSpPr>
        <p:spPr>
          <a:xfrm>
            <a:off x="6400800" y="1371600"/>
            <a:ext cx="5212080" cy="4572000"/>
          </a:xfrm>
          <a:prstGeom prst="roundRect">
            <a:avLst>
              <a:gd name="adj" fmla="val 1600"/>
            </a:avLst>
          </a:prstGeom>
          <a:solidFill>
            <a:srgbClr val="F1F8FC"/>
          </a:solidFill>
          <a:ln w="9525">
            <a:solidFill>
              <a:srgbClr val="D0D7DE"/>
            </a:solidFill>
            <a:prstDash val="solid"/>
          </a:ln>
        </p:spPr>
      </p:sp>
      <p:sp>
        <p:nvSpPr>
          <p:cNvPr id="9" name="Text 7"/>
          <p:cNvSpPr/>
          <p:nvPr/>
        </p:nvSpPr>
        <p:spPr>
          <a:xfrm>
            <a:off x="6766560" y="1691640"/>
            <a:ext cx="4480560" cy="384048"/>
          </a:xfrm>
          <a:prstGeom prst="rect">
            <a:avLst/>
          </a:prstGeom>
          <a:noFill/>
          <a:ln/>
        </p:spPr>
        <p:txBody>
          <a:bodyPr wrap="square" lIns="0" tIns="0" rIns="0" bIns="0" rtlCol="0" anchor="ctr"/>
          <a:lstStyle/>
          <a:p>
            <a:pPr indent="0" marL="0">
              <a:buNone/>
            </a:pPr>
            <a:r>
              <a:rPr lang="en-US" sz="1700" b="1" dirty="0">
                <a:solidFill>
                  <a:srgbClr val="00497C"/>
                </a:solidFill>
                <a:latin typeface="Calibri" pitchFamily="34" charset="0"/>
                <a:ea typeface="Calibri" pitchFamily="34" charset="-122"/>
                <a:cs typeface="Calibri" pitchFamily="34" charset="-120"/>
              </a:rPr>
              <a:t>Veille pendant le projet</a:t>
            </a:r>
            <a:endParaRPr lang="en-US" sz="1700" dirty="0"/>
          </a:p>
        </p:txBody>
      </p:sp>
      <p:sp>
        <p:nvSpPr>
          <p:cNvPr id="10" name="Text 8"/>
          <p:cNvSpPr/>
          <p:nvPr/>
        </p:nvSpPr>
        <p:spPr>
          <a:xfrm>
            <a:off x="6766560" y="2286000"/>
            <a:ext cx="4480560" cy="329184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300" dirty="0">
                <a:solidFill>
                  <a:srgbClr val="384050"/>
                </a:solidFill>
                <a:latin typeface="Calibri" pitchFamily="34" charset="0"/>
                <a:ea typeface="Calibri" pitchFamily="34" charset="-122"/>
                <a:cs typeface="Calibri" pitchFamily="34" charset="-120"/>
              </a:rPr>
              <a:t>OWASP Top 10 et Cheat Sheets</a:t>
            </a:r>
            <a:endParaRPr lang="en-US" sz="1300" dirty="0"/>
          </a:p>
          <a:p>
            <a:pPr marL="152400" indent="-152400">
              <a:lnSpc>
                <a:spcPct val="105000"/>
              </a:lnSpc>
              <a:spcAft>
                <a:spcPts val="1000"/>
              </a:spcAft>
              <a:buSzPct val="100000"/>
              <a:buChar char="•"/>
            </a:pPr>
            <a:r>
              <a:rPr lang="en-US" sz="1300" dirty="0">
                <a:solidFill>
                  <a:srgbClr val="384050"/>
                </a:solidFill>
                <a:latin typeface="Calibri" pitchFamily="34" charset="0"/>
                <a:ea typeface="Calibri" pitchFamily="34" charset="-122"/>
                <a:cs typeface="Calibri" pitchFamily="34" charset="-120"/>
              </a:rPr>
              <a:t>Snyk et GitHub Advisories (CVE des dépendances)</a:t>
            </a:r>
            <a:endParaRPr lang="en-US" sz="1300" dirty="0"/>
          </a:p>
          <a:p>
            <a:pPr marL="152400" indent="-152400">
              <a:lnSpc>
                <a:spcPct val="105000"/>
              </a:lnSpc>
              <a:spcAft>
                <a:spcPts val="1000"/>
              </a:spcAft>
              <a:buSzPct val="100000"/>
              <a:buChar char="•"/>
            </a:pPr>
            <a:r>
              <a:rPr lang="en-US" sz="1300" dirty="0">
                <a:solidFill>
                  <a:srgbClr val="384050"/>
                </a:solidFill>
                <a:latin typeface="Calibri" pitchFamily="34" charset="0"/>
                <a:ea typeface="Calibri" pitchFamily="34" charset="-122"/>
                <a:cs typeface="Calibri" pitchFamily="34" charset="-120"/>
              </a:rPr>
              <a:t>CNIL (RGPD du formulaire de contact)</a:t>
            </a:r>
            <a:endParaRPr lang="en-US" sz="1300" dirty="0"/>
          </a:p>
          <a:p>
            <a:pPr marL="152400" indent="-152400">
              <a:lnSpc>
                <a:spcPct val="105000"/>
              </a:lnSpc>
              <a:spcAft>
                <a:spcPts val="1000"/>
              </a:spcAft>
              <a:buSzPct val="100000"/>
              <a:buChar char="•"/>
            </a:pPr>
            <a:r>
              <a:rPr lang="en-US" sz="1300" dirty="0">
                <a:solidFill>
                  <a:srgbClr val="384050"/>
                </a:solidFill>
                <a:latin typeface="Calibri" pitchFamily="34" charset="0"/>
                <a:ea typeface="Calibri" pitchFamily="34" charset="-122"/>
                <a:cs typeface="Calibri" pitchFamily="34" charset="-120"/>
              </a:rPr>
              <a:t>Corrections issues de la veille : comparaison de clé à temps constant, 404 API explicite, X-Powered-By désactivé, aucun dangerouslySetInnerHTML</a:t>
            </a:r>
            <a:endParaRPr lang="en-US" sz="1300" dirty="0"/>
          </a:p>
        </p:txBody>
      </p:sp>
      <p:sp>
        <p:nvSpPr>
          <p:cNvPr id="25" name="Slide Number Placeholder 0"/>
          <p:cNvSpPr>
            <a:spLocks noGrp="1"/>
          </p:cNvSpPr>
          <p:nvPr>
            <p:ph type="sldNum" sz="quarter" idx="4294967295"/>
          </p:nvPr>
        </p:nvSpPr>
        <p:spPr>
          <a:xfrm>
            <a:off x="1147572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822960" y="50292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Bilan du projet</a:t>
            </a:r>
            <a:endParaRPr lang="en-US" sz="3200" dirty="0"/>
          </a:p>
        </p:txBody>
      </p:sp>
      <p:sp>
        <p:nvSpPr>
          <p:cNvPr id="3" name="Text 1"/>
          <p:cNvSpPr/>
          <p:nvPr/>
        </p:nvSpPr>
        <p:spPr>
          <a:xfrm>
            <a:off x="822960" y="1554480"/>
            <a:ext cx="5120640" cy="457200"/>
          </a:xfrm>
          <a:prstGeom prst="rect">
            <a:avLst/>
          </a:prstGeom>
          <a:noFill/>
          <a:ln/>
        </p:spPr>
        <p:txBody>
          <a:bodyPr wrap="square" lIns="0" tIns="0" rIns="0" bIns="0" rtlCol="0" anchor="ctr"/>
          <a:lstStyle/>
          <a:p>
            <a:pPr indent="0" marL="0">
              <a:buNone/>
            </a:pPr>
            <a:r>
              <a:rPr lang="en-US" sz="1800" b="1" dirty="0">
                <a:solidFill>
                  <a:srgbClr val="CADCFC"/>
                </a:solidFill>
                <a:latin typeface="Calibri" pitchFamily="34" charset="0"/>
                <a:ea typeface="Calibri" pitchFamily="34" charset="-122"/>
                <a:cs typeface="Calibri" pitchFamily="34" charset="-120"/>
              </a:rPr>
              <a:t>Satisfactions</a:t>
            </a:r>
            <a:endParaRPr lang="en-US" sz="1800" dirty="0"/>
          </a:p>
        </p:txBody>
      </p:sp>
      <p:sp>
        <p:nvSpPr>
          <p:cNvPr id="4" name="Text 2"/>
          <p:cNvSpPr/>
          <p:nvPr/>
        </p:nvSpPr>
        <p:spPr>
          <a:xfrm>
            <a:off x="822960" y="2103120"/>
            <a:ext cx="5120640" cy="3291840"/>
          </a:xfrm>
          <a:prstGeom prst="rect">
            <a:avLst/>
          </a:prstGeom>
          <a:noFill/>
          <a:ln/>
        </p:spPr>
        <p:txBody>
          <a:bodyPr wrap="square" lIns="0" tIns="0" rIns="0" bIns="0" rtlCol="0" anchor="t"/>
          <a:lstStyle/>
          <a:p>
            <a:pPr marL="152400" indent="-152400">
              <a:lnSpc>
                <a:spcPct val="105000"/>
              </a:lnSpc>
              <a:spcAft>
                <a:spcPts val="1100"/>
              </a:spcAft>
              <a:buSzPct val="100000"/>
              <a:buChar char="•"/>
            </a:pPr>
            <a:r>
              <a:rPr lang="en-US" sz="1350" dirty="0">
                <a:solidFill>
                  <a:srgbClr val="FFFFFF"/>
                </a:solidFill>
                <a:latin typeface="Calibri" pitchFamily="34" charset="0"/>
                <a:ea typeface="Calibri" pitchFamily="34" charset="-122"/>
                <a:cs typeface="Calibri" pitchFamily="34" charset="-120"/>
              </a:rPr>
              <a:t>Une application complète, en production, avec ses deux bases (SQL et NoSQL)</a:t>
            </a:r>
            <a:endParaRPr lang="en-US" sz="1350" dirty="0"/>
          </a:p>
          <a:p>
            <a:pPr marL="152400" indent="-152400">
              <a:lnSpc>
                <a:spcPct val="105000"/>
              </a:lnSpc>
              <a:spcAft>
                <a:spcPts val="1100"/>
              </a:spcAft>
              <a:buSzPct val="100000"/>
              <a:buChar char="•"/>
            </a:pPr>
            <a:r>
              <a:rPr lang="en-US" sz="1350" dirty="0">
                <a:solidFill>
                  <a:srgbClr val="FFFFFF"/>
                </a:solidFill>
                <a:latin typeface="Calibri" pitchFamily="34" charset="0"/>
                <a:ea typeface="Calibri" pitchFamily="34" charset="-122"/>
                <a:cs typeface="Calibri" pitchFamily="34" charset="-120"/>
              </a:rPr>
              <a:t>Accessibilité et sécurité au niveau attendu d’une collectivité</a:t>
            </a:r>
            <a:endParaRPr lang="en-US" sz="1350" dirty="0"/>
          </a:p>
          <a:p>
            <a:pPr marL="152400" indent="-152400">
              <a:lnSpc>
                <a:spcPct val="105000"/>
              </a:lnSpc>
              <a:spcAft>
                <a:spcPts val="1100"/>
              </a:spcAft>
              <a:buSzPct val="100000"/>
              <a:buChar char="•"/>
            </a:pPr>
            <a:r>
              <a:rPr lang="en-US" sz="1350" dirty="0">
                <a:solidFill>
                  <a:srgbClr val="FFFFFF"/>
                </a:solidFill>
                <a:latin typeface="Calibri" pitchFamily="34" charset="0"/>
                <a:ea typeface="Calibri" pitchFamily="34" charset="-122"/>
                <a:cs typeface="Calibri" pitchFamily="34" charset="-120"/>
              </a:rPr>
              <a:t>Une suite de tests automatisée qui sécurise chaque évolution</a:t>
            </a:r>
            <a:endParaRPr lang="en-US" sz="1350" dirty="0"/>
          </a:p>
          <a:p>
            <a:pPr marL="152400" indent="-152400">
              <a:lnSpc>
                <a:spcPct val="105000"/>
              </a:lnSpc>
              <a:spcAft>
                <a:spcPts val="1100"/>
              </a:spcAft>
              <a:buSzPct val="100000"/>
              <a:buChar char="•"/>
            </a:pPr>
            <a:r>
              <a:rPr lang="en-US" sz="1350" dirty="0">
                <a:solidFill>
                  <a:srgbClr val="FFFFFF"/>
                </a:solidFill>
                <a:latin typeface="Calibri" pitchFamily="34" charset="0"/>
                <a:ea typeface="Calibri" pitchFamily="34" charset="-122"/>
                <a:cs typeface="Calibri" pitchFamily="34" charset="-120"/>
              </a:rPr>
              <a:t>Un vrai workflow Git : branches, pull requests, historique propre</a:t>
            </a:r>
            <a:endParaRPr lang="en-US" sz="1350" dirty="0"/>
          </a:p>
        </p:txBody>
      </p:sp>
      <p:sp>
        <p:nvSpPr>
          <p:cNvPr id="5" name="Text 3"/>
          <p:cNvSpPr/>
          <p:nvPr/>
        </p:nvSpPr>
        <p:spPr>
          <a:xfrm>
            <a:off x="6400800" y="1554480"/>
            <a:ext cx="5120640" cy="457200"/>
          </a:xfrm>
          <a:prstGeom prst="rect">
            <a:avLst/>
          </a:prstGeom>
          <a:noFill/>
          <a:ln/>
        </p:spPr>
        <p:txBody>
          <a:bodyPr wrap="square" lIns="0" tIns="0" rIns="0" bIns="0" rtlCol="0" anchor="ctr"/>
          <a:lstStyle/>
          <a:p>
            <a:pPr indent="0" marL="0">
              <a:buNone/>
            </a:pPr>
            <a:r>
              <a:rPr lang="en-US" sz="1800" b="1" dirty="0">
                <a:solidFill>
                  <a:srgbClr val="CADCFC"/>
                </a:solidFill>
                <a:latin typeface="Calibri" pitchFamily="34" charset="0"/>
                <a:ea typeface="Calibri" pitchFamily="34" charset="-122"/>
                <a:cs typeface="Calibri" pitchFamily="34" charset="-120"/>
              </a:rPr>
              <a:t>Difficultés surmontées</a:t>
            </a:r>
            <a:endParaRPr lang="en-US" sz="1800" dirty="0"/>
          </a:p>
        </p:txBody>
      </p:sp>
      <p:sp>
        <p:nvSpPr>
          <p:cNvPr id="6" name="Text 4"/>
          <p:cNvSpPr/>
          <p:nvPr/>
        </p:nvSpPr>
        <p:spPr>
          <a:xfrm>
            <a:off x="6400800" y="2103120"/>
            <a:ext cx="5120640" cy="3291840"/>
          </a:xfrm>
          <a:prstGeom prst="rect">
            <a:avLst/>
          </a:prstGeom>
          <a:noFill/>
          <a:ln/>
        </p:spPr>
        <p:txBody>
          <a:bodyPr wrap="square" lIns="0" tIns="0" rIns="0" bIns="0" rtlCol="0" anchor="t"/>
          <a:lstStyle/>
          <a:p>
            <a:pPr marL="152400" indent="-152400">
              <a:lnSpc>
                <a:spcPct val="105000"/>
              </a:lnSpc>
              <a:spcAft>
                <a:spcPts val="1100"/>
              </a:spcAft>
              <a:buSzPct val="100000"/>
              <a:buChar char="•"/>
            </a:pPr>
            <a:r>
              <a:rPr lang="en-US" sz="1350" dirty="0">
                <a:solidFill>
                  <a:srgbClr val="FFFFFF"/>
                </a:solidFill>
                <a:latin typeface="Calibri" pitchFamily="34" charset="0"/>
                <a:ea typeface="Calibri" pitchFamily="34" charset="-122"/>
                <a:cs typeface="Calibri" pitchFamily="34" charset="-120"/>
              </a:rPr>
              <a:t>Articuler deux persistances différentes sans complexifier l’API</a:t>
            </a:r>
            <a:endParaRPr lang="en-US" sz="1350" dirty="0"/>
          </a:p>
          <a:p>
            <a:pPr marL="152400" indent="-152400">
              <a:lnSpc>
                <a:spcPct val="105000"/>
              </a:lnSpc>
              <a:spcAft>
                <a:spcPts val="1100"/>
              </a:spcAft>
              <a:buSzPct val="100000"/>
              <a:buChar char="•"/>
            </a:pPr>
            <a:r>
              <a:rPr lang="en-US" sz="1350" dirty="0">
                <a:solidFill>
                  <a:srgbClr val="FFFFFF"/>
                </a:solidFill>
                <a:latin typeface="Calibri" pitchFamily="34" charset="0"/>
                <a:ea typeface="Calibri" pitchFamily="34" charset="-122"/>
                <a:cs typeface="Calibri" pitchFamily="34" charset="-120"/>
              </a:rPr>
              <a:t>La police de la charte, sous licence, à intégrer proprement</a:t>
            </a:r>
            <a:endParaRPr lang="en-US" sz="1350" dirty="0"/>
          </a:p>
          <a:p>
            <a:pPr marL="152400" indent="-152400">
              <a:lnSpc>
                <a:spcPct val="105000"/>
              </a:lnSpc>
              <a:spcAft>
                <a:spcPts val="1100"/>
              </a:spcAft>
              <a:buSzPct val="100000"/>
              <a:buChar char="•"/>
            </a:pPr>
            <a:r>
              <a:rPr lang="en-US" sz="1350" dirty="0">
                <a:solidFill>
                  <a:srgbClr val="FFFFFF"/>
                </a:solidFill>
                <a:latin typeface="Calibri" pitchFamily="34" charset="0"/>
                <a:ea typeface="Calibri" pitchFamily="34" charset="-122"/>
                <a:cs typeface="Calibri" pitchFamily="34" charset="-120"/>
              </a:rPr>
              <a:t>Les limites des hébergements gratuits (mise en veille de l’API)</a:t>
            </a:r>
            <a:endParaRPr lang="en-US" sz="1350" dirty="0"/>
          </a:p>
          <a:p>
            <a:pPr marL="152400" indent="-152400">
              <a:lnSpc>
                <a:spcPct val="105000"/>
              </a:lnSpc>
              <a:spcAft>
                <a:spcPts val="1100"/>
              </a:spcAft>
              <a:buSzPct val="100000"/>
              <a:buChar char="•"/>
            </a:pPr>
            <a:r>
              <a:rPr lang="en-US" sz="1350" dirty="0">
                <a:solidFill>
                  <a:srgbClr val="FFFFFF"/>
                </a:solidFill>
                <a:latin typeface="Calibri" pitchFamily="34" charset="0"/>
                <a:ea typeface="Calibri" pitchFamily="34" charset="-122"/>
                <a:cs typeface="Calibri" pitchFamily="34" charset="-120"/>
              </a:rPr>
              <a:t>L’encodage UTF-8 des scripts SQL sous Windows</a:t>
            </a:r>
            <a:endParaRPr lang="en-US" sz="1350" dirty="0"/>
          </a:p>
        </p:txBody>
      </p:sp>
      <p:sp>
        <p:nvSpPr>
          <p:cNvPr id="7" name="Text 5"/>
          <p:cNvSpPr/>
          <p:nvPr/>
        </p:nvSpPr>
        <p:spPr>
          <a:xfrm>
            <a:off x="822960" y="5806440"/>
            <a:ext cx="10515600" cy="54864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Merci de votre attention — place à vos questions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Trouve ton artisan — Titre professionnel DWWM</dc:title>
  <dc:subject>PptxGenJS Presentation</dc:subject>
  <dc:creator>Sylvain Labeye</dc:creator>
  <cp:lastModifiedBy>Sylvain Labeye</cp:lastModifiedBy>
  <cp:revision>1</cp:revision>
  <dcterms:created xsi:type="dcterms:W3CDTF">2026-07-19T20:01:03Z</dcterms:created>
  <dcterms:modified xsi:type="dcterms:W3CDTF">2026-07-19T20:01:03Z</dcterms:modified>
</cp:coreProperties>
</file>